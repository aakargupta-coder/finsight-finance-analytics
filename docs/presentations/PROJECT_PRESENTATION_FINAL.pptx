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F1D2E1-64A2-0A87-CA1C-CF53F4E7D007}">
          <p14:sldIdLst>
            <p14:sldId id="256"/>
          </p14:sldIdLst>
        </p14:section>
        <p14:section name="Problem and objectives" id="{3CD3E07A-E62C-DDF2-DDC0-DD721AEA398B}">
          <p14:sldIdLst>
            <p14:sldId id="257"/>
            <p14:sldId id="258"/>
          </p14:sldIdLst>
        </p14:section>
        <p14:section name="Design and implementation" id="{51AFE268-D8ED-D54D-6289-0630F24CDD7E}">
          <p14:sldIdLst>
            <p14:sldId id="259"/>
            <p14:sldId id="260"/>
            <p14:sldId id="261"/>
            <p14:sldId id="262"/>
          </p14:sldIdLst>
        </p14:section>
        <p14:section name="Cloud deployment" id="{1102C24A-38B6-003D-ED66-90D0B0CA2B29}">
          <p14:sldIdLst>
            <p14:sldId id="263"/>
            <p14:sldId id="264"/>
          </p14:sldIdLst>
        </p14:section>
        <p14:section name="Results" id="{406F6931-389A-37BE-2545-C4260E836B0A}">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191F"/>
                </a:solidFill>
                <a:latin typeface="+mn-lt"/>
              </a:defRPr>
            </a:pPr>
            <a:r>
              <a:rPr lang="en-US" sz="1300" b="0" i="0" u="none" strike="noStrike">
                <a:solidFill>
                  <a:srgbClr val="16191F"/>
                </a:solidFill>
                <a:latin typeface="+mn-lt"/>
              </a:rPr>
              <a:t>Live API checks passed by area (64 of 64)</a:t>
            </a:r>
          </a:p>
        </c:rich>
      </c:tx>
      <c:overlay val="0"/>
    </c:title>
    <c:autoTitleDeleted val="0"/>
    <c:plotArea>
      <c:layout/>
      <c:barChart>
        <c:barDir val="bar"/>
        <c:grouping val="clustered"/>
        <c:varyColors val="0"/>
        <c:ser>
          <c:idx val="0"/>
          <c:order val="0"/>
          <c:tx>
            <c:strRef>
              <c:f>Sheet1!$B$1</c:f>
              <c:strCache>
                <c:ptCount val="1"/>
                <c:pt idx="0">
                  <c:v>Checks passed</c:v>
                </c:pt>
              </c:strCache>
            </c:strRef>
          </c:tx>
          <c:spPr>
            <a:solidFill>
              <a:srgbClr val="10B981"/>
            </a:solidFill>
            <a:effectLst/>
          </c:spPr>
          <c:invertIfNegative val="0"/>
          <c:dLbls>
            <c:numFmt formatCode="#,##0" sourceLinked="0"/>
            <c:spPr>
              <a:noFill/>
              <a:ln>
                <a:noFill/>
              </a:ln>
              <a:effectLst/>
            </c:spPr>
            <c:txPr>
              <a:bodyPr/>
              <a:lstStyle/>
              <a:p>
                <a:pPr>
                  <a:defRPr sz="1100" b="0" i="0" u="none" strike="noStrike">
                    <a:solidFill>
                      <a:srgbClr val="1619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CORS and clean-up</c:v>
                </c:pt>
                <c:pt idx="1">
                  <c:v>Isolation</c:v>
                </c:pt>
                <c:pt idx="2">
                  <c:v>Public endpoints</c:v>
                </c:pt>
                <c:pt idx="3">
                  <c:v>Assistant, goals, What-If</c:v>
                </c:pt>
                <c:pt idx="4">
                  <c:v>Budgets</c:v>
                </c:pt>
                <c:pt idx="5">
                  <c:v>Analytics</c:v>
                </c:pt>
                <c:pt idx="6">
                  <c:v>Frontend delivery</c:v>
                </c:pt>
                <c:pt idx="7">
                  <c:v>Expenses</c:v>
                </c:pt>
                <c:pt idx="8">
                  <c:v>Cognito and identity</c:v>
                </c:pt>
                <c:pt idx="9">
                  <c:v>Edge authorization</c:v>
                </c:pt>
                <c:pt idx="10">
                  <c:v>Receipts (S3 + OCR)</c:v>
                </c:pt>
              </c:strCache>
            </c:strRef>
          </c:cat>
          <c:val>
            <c:numRef>
              <c:f>Sheet1!$B$2:$B$12</c:f>
              <c:numCache>
                <c:formatCode>General</c:formatCode>
                <c:ptCount val="11"/>
                <c:pt idx="0">
                  <c:v>3</c:v>
                </c:pt>
                <c:pt idx="1">
                  <c:v>3</c:v>
                </c:pt>
                <c:pt idx="2">
                  <c:v>3</c:v>
                </c:pt>
                <c:pt idx="3">
                  <c:v>4</c:v>
                </c:pt>
                <c:pt idx="4">
                  <c:v>4</c:v>
                </c:pt>
                <c:pt idx="5">
                  <c:v>5</c:v>
                </c:pt>
                <c:pt idx="6">
                  <c:v>6</c:v>
                </c:pt>
                <c:pt idx="7">
                  <c:v>8</c:v>
                </c:pt>
                <c:pt idx="8">
                  <c:v>9</c:v>
                </c:pt>
                <c:pt idx="9">
                  <c:v>9</c:v>
                </c:pt>
                <c:pt idx="10">
                  <c:v>10</c:v>
                </c:pt>
              </c:numCache>
            </c:numRef>
          </c:val>
          <c:extLst>
            <c:ext xmlns:c16="http://schemas.microsoft.com/office/drawing/2014/chart" uri="{C3380CC4-5D6E-409C-BE32-E72D297353CC}">
              <c16:uniqueId val="{00000000-E7AA-40BB-8EAA-F1CF0F0B76C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91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43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FinSight is a personal finance intelligence platform built by Aakar Gupta at VIT Chennai and deployed on AWS serverless services in Mumbai. The screenshot is the live dashboard of a synthetic test user, served from the deployed stack.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everyday problems shaped the design. The motivation is explainability: every insight shows its calculation and evidence, and nothing depends on bank connections or paid 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maps to an implemented module. Money is stored as integer paise. The assistant and insights are deterministic rules, not a paid AI service. Income tracking and bank connections are deliberately out of scope.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screenshots from the live deployment: the light-theme dashboard and the mobile navigation drawer at 390 px. All pages call the same versioned API on the same origin.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deployed architecture, not the original plan. CloudFront and the web bucket are in the template behind FrontendHosting=cloudfront but were refused because the new account needs AWS verification, so WebFunction serves the SPA on the same HTTP API. Dashed arrows: token verification against Cognito and the OCR image pulled from ECR.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every expense change the server runs the budget threshold check and the anomaly re-scan, so dashboards, alerts and insights stay consistent. The same services run locally and in Lambda; only the repository and auth mode change by configuration.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insights page on the live stack: each card shows its kind and an evidence panel. Anomaly rules use the median and MAD because they are robust to outliers; identical subscriptions are not flagged. Recurring payments are detected by similar amounts at weekly or monthly intervals.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test RCT-06 on the deployed stack: a synthetic receipt uploaded to the private bucket was read by the container function with 93.3 percent OCR confidence and a total of 610.05 rupees in 3.2 seconds. Unsigned access to the object returned 403, and nothing is saved until the user confirms.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AWS Console captures with the account ID masked: the Cognito JWT authorizer attached to the routes, and the private receipts bucket with Block Public Access on. Live tests confirmed 401 without or with a forged token, 404 for other users’ data, 403 for unsigned S3 access and 401 token_revoked after sign-out.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final runs (docs/AWS_LIVE_TEST_RESULTS.md and the billing console). No load test or OCR accuracy study was performed, and no coverage percentage is claimed. The cost estimate assumes at most 5,000 requests and 50 OCR runs a month.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is verified (64 of 64 live checks, 27 of 27 browser checks), what is new (explainable insights and robust anomaly review on a secure serverless design) and the honest next steps.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S_LIGHT">
    <p:bg>
      <p:bgPr>
        <a:solidFill>
          <a:srgbClr val="F3F5F4"/>
        </a:solidFill>
        <a:effectLst/>
      </p:bgPr>
    </p:bg>
    <p:spTree>
      <p:nvGrpSpPr>
        <p:cNvPr id="1" name=""/>
        <p:cNvGrpSpPr/>
        <p:nvPr/>
      </p:nvGrpSpPr>
      <p:grpSpPr>
        <a:xfrm>
          <a:off x="0" y="0"/>
          <a:ext cx="0" cy="0"/>
          <a:chOff x="0" y="0"/>
          <a:chExt cx="0" cy="0"/>
        </a:xfrm>
      </p:grpSpPr>
      <p:sp>
        <p:nvSpPr>
          <p:cNvPr id="2" name="Shape 0"/>
          <p:cNvSpPr/>
          <p:nvPr/>
        </p:nvSpPr>
        <p:spPr>
          <a:xfrm>
            <a:off x="329184" y="502920"/>
            <a:ext cx="0" cy="960120"/>
          </a:xfrm>
          <a:prstGeom prst="line">
            <a:avLst/>
          </a:prstGeom>
          <a:noFill/>
          <a:ln w="12700">
            <a:solidFill>
              <a:srgbClr val="C9D0CB"/>
            </a:solidFill>
            <a:prstDash val="solid"/>
          </a:ln>
        </p:spPr>
      </p:sp>
      <p:sp>
        <p:nvSpPr>
          <p:cNvPr id="3" name="Text 1"/>
          <p:cNvSpPr/>
          <p:nvPr/>
        </p:nvSpPr>
        <p:spPr>
          <a:xfrm>
            <a:off x="192024" y="1828800"/>
            <a:ext cx="292608" cy="3291840"/>
          </a:xfrm>
          <a:prstGeom prst="rect">
            <a:avLst/>
          </a:prstGeom>
          <a:noFill/>
          <a:ln/>
        </p:spPr>
        <p:txBody>
          <a:bodyPr vert="vert270" wrap="square" lIns="0" tIns="0" rIns="0" bIns="0" rtlCol="0" anchor="ctr"/>
          <a:lstStyle/>
          <a:p>
            <a:pPr marL="0" indent="0" algn="ctr">
              <a:buNone/>
            </a:pPr>
            <a:r>
              <a:rPr lang="en-US" sz="900" b="1" kern="0" spc="300" dirty="0">
                <a:solidFill>
                  <a:srgbClr val="7B847E"/>
                </a:solidFill>
                <a:latin typeface="Calibri" pitchFamily="34" charset="0"/>
                <a:ea typeface="Calibri" pitchFamily="34" charset="-122"/>
                <a:cs typeface="Calibri" pitchFamily="34" charset="-120"/>
              </a:rPr>
              <a:t>FINSIGHT  ·  AAKAR GUPTA</a:t>
            </a:r>
            <a:endParaRPr lang="en-US" sz="900" dirty="0"/>
          </a:p>
        </p:txBody>
      </p:sp>
      <p:sp>
        <p:nvSpPr>
          <p:cNvPr id="4" name="Shape 2"/>
          <p:cNvSpPr/>
          <p:nvPr/>
        </p:nvSpPr>
        <p:spPr>
          <a:xfrm>
            <a:off x="329184" y="5486400"/>
            <a:ext cx="0" cy="502920"/>
          </a:xfrm>
          <a:prstGeom prst="line">
            <a:avLst/>
          </a:prstGeom>
          <a:noFill/>
          <a:ln w="12700">
            <a:solidFill>
              <a:srgbClr val="C9D0CB"/>
            </a:solidFill>
            <a:prstDash val="solid"/>
          </a:ln>
        </p:spPr>
      </p:sp>
      <p:pic>
        <p:nvPicPr>
          <p:cNvPr id="5" name="Image 0" descr="D:\Aakar\College\CAD Project\docs\report_assets\presentation\icons\brandmark.png"/>
          <p:cNvPicPr>
            <a:picLocks noChangeAspect="1"/>
          </p:cNvPicPr>
          <p:nvPr/>
        </p:nvPicPr>
        <p:blipFill>
          <a:blip r:embed="rId2"/>
          <a:stretch>
            <a:fillRect/>
          </a:stretch>
        </p:blipFill>
        <p:spPr>
          <a:xfrm>
            <a:off x="173736" y="6172200"/>
            <a:ext cx="310896" cy="310896"/>
          </a:xfrm>
          <a:prstGeom prst="rect">
            <a:avLst/>
          </a:prstGeom>
        </p:spPr>
      </p:pic>
      <p:sp>
        <p:nvSpPr>
          <p:cNvPr id="6" name="Text 3"/>
          <p:cNvSpPr>
            <a:spLocks noGrp="1"/>
          </p:cNvSpPr>
          <p:nvPr>
            <p:ph type="title" idx="104" hasCustomPrompt="1"/>
          </p:nvPr>
        </p:nvSpPr>
        <p:spPr>
          <a:xfrm>
            <a:off x="868680" y="457200"/>
            <a:ext cx="8778240" cy="685800"/>
          </a:xfrm>
          <a:prstGeom prst="rect">
            <a:avLst/>
          </a:prstGeom>
          <a:noFill/>
          <a:ln/>
        </p:spPr>
        <p:txBody>
          <a:bodyPr wrap="square" rtlCol="0"/>
          <a:lstStyle>
            <a:lvl1pPr marL="0" indent="0" algn="l">
              <a:buNone/>
              <a:defRPr lang="en-US" sz="3000" kern="0" spc="100" dirty="0">
                <a:solidFill>
                  <a:srgbClr val="16191F"/>
                </a:solidFill>
              </a:defRPr>
            </a:lvl1pPr>
          </a:lstStyle>
          <a:p>
            <a:pPr marL="0" indent="0" algn="l">
              <a:buNone/>
            </a:pPr>
            <a:endParaRPr lang="en-US" sz="3000" dirty="0"/>
          </a:p>
        </p:txBody>
      </p:sp>
      <p:sp>
        <p:nvSpPr>
          <p:cNvPr id="7" name="Text 3"/>
          <p:cNvSpPr>
            <a:spLocks noGrp="1"/>
          </p:cNvSpPr>
          <p:nvPr>
            <p:ph type="body" idx="105" hasCustomPrompt="1"/>
          </p:nvPr>
        </p:nvSpPr>
        <p:spPr>
          <a:xfrm>
            <a:off x="886968" y="1161288"/>
            <a:ext cx="8778240" cy="320040"/>
          </a:xfrm>
          <a:prstGeom prst="rect">
            <a:avLst/>
          </a:prstGeom>
          <a:noFill/>
          <a:ln/>
        </p:spPr>
        <p:txBody>
          <a:bodyPr wrap="square" rtlCol="0"/>
          <a:lstStyle>
            <a:lvl1pPr marL="0" indent="0" algn="l">
              <a:buNone/>
              <a:defRPr lang="en-US" sz="1200" b="1" kern="0" spc="400" dirty="0">
                <a:solidFill>
                  <a:srgbClr val="047857"/>
                </a:solidFill>
                <a:latin typeface="Calibri" pitchFamily="34" charset="0"/>
                <a:ea typeface="Calibri" pitchFamily="34" charset="-122"/>
                <a:cs typeface="Calibri" pitchFamily="34" charset="-120"/>
              </a:defRPr>
            </a:lvl1pPr>
          </a:lstStyle>
          <a:p>
            <a:pPr marL="0" indent="0" algn="l">
              <a:buNone/>
            </a:pP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S_DARK">
    <p:bg>
      <p:bgPr>
        <a:solidFill>
          <a:srgbClr val="101114"/>
        </a:solidFill>
        <a:effectLst/>
      </p:bgPr>
    </p:bg>
    <p:spTree>
      <p:nvGrpSpPr>
        <p:cNvPr id="1" name=""/>
        <p:cNvGrpSpPr/>
        <p:nvPr/>
      </p:nvGrpSpPr>
      <p:grpSpPr>
        <a:xfrm>
          <a:off x="0" y="0"/>
          <a:ext cx="0" cy="0"/>
          <a:chOff x="0" y="0"/>
          <a:chExt cx="0" cy="0"/>
        </a:xfrm>
      </p:grpSpPr>
      <p:sp>
        <p:nvSpPr>
          <p:cNvPr id="2" name="Shape 0"/>
          <p:cNvSpPr/>
          <p:nvPr/>
        </p:nvSpPr>
        <p:spPr>
          <a:xfrm>
            <a:off x="329184" y="502920"/>
            <a:ext cx="0" cy="960120"/>
          </a:xfrm>
          <a:prstGeom prst="line">
            <a:avLst/>
          </a:prstGeom>
          <a:noFill/>
          <a:ln w="12700">
            <a:solidFill>
              <a:srgbClr val="3A3F47"/>
            </a:solidFill>
            <a:prstDash val="solid"/>
          </a:ln>
        </p:spPr>
      </p:sp>
      <p:sp>
        <p:nvSpPr>
          <p:cNvPr id="3" name="Text 1"/>
          <p:cNvSpPr/>
          <p:nvPr/>
        </p:nvSpPr>
        <p:spPr>
          <a:xfrm>
            <a:off x="192024" y="1828800"/>
            <a:ext cx="292608" cy="3291840"/>
          </a:xfrm>
          <a:prstGeom prst="rect">
            <a:avLst/>
          </a:prstGeom>
          <a:noFill/>
          <a:ln/>
        </p:spPr>
        <p:txBody>
          <a:bodyPr vert="vert270" wrap="square" lIns="0" tIns="0" rIns="0" bIns="0" rtlCol="0" anchor="ctr"/>
          <a:lstStyle/>
          <a:p>
            <a:pPr marL="0" indent="0" algn="ctr">
              <a:buNone/>
            </a:pPr>
            <a:r>
              <a:rPr lang="en-US" sz="900" b="1" kern="0" spc="300" dirty="0">
                <a:solidFill>
                  <a:srgbClr val="8B9097"/>
                </a:solidFill>
                <a:latin typeface="Calibri" pitchFamily="34" charset="0"/>
                <a:ea typeface="Calibri" pitchFamily="34" charset="-122"/>
                <a:cs typeface="Calibri" pitchFamily="34" charset="-120"/>
              </a:rPr>
              <a:t>FINSIGHT  ·  AAKAR GUPTA</a:t>
            </a:r>
            <a:endParaRPr lang="en-US" sz="900" dirty="0"/>
          </a:p>
        </p:txBody>
      </p:sp>
      <p:sp>
        <p:nvSpPr>
          <p:cNvPr id="4" name="Shape 2"/>
          <p:cNvSpPr/>
          <p:nvPr/>
        </p:nvSpPr>
        <p:spPr>
          <a:xfrm>
            <a:off x="329184" y="5486400"/>
            <a:ext cx="0" cy="502920"/>
          </a:xfrm>
          <a:prstGeom prst="line">
            <a:avLst/>
          </a:prstGeom>
          <a:noFill/>
          <a:ln w="12700">
            <a:solidFill>
              <a:srgbClr val="3A3F47"/>
            </a:solidFill>
            <a:prstDash val="solid"/>
          </a:ln>
        </p:spPr>
      </p:sp>
      <p:pic>
        <p:nvPicPr>
          <p:cNvPr id="5" name="Image 0" descr="D:\Aakar\College\CAD Project\docs\report_assets\presentation\icons\brandmark.png"/>
          <p:cNvPicPr>
            <a:picLocks noChangeAspect="1"/>
          </p:cNvPicPr>
          <p:nvPr/>
        </p:nvPicPr>
        <p:blipFill>
          <a:blip r:embed="rId2"/>
          <a:stretch>
            <a:fillRect/>
          </a:stretch>
        </p:blipFill>
        <p:spPr>
          <a:xfrm>
            <a:off x="173736" y="6172200"/>
            <a:ext cx="310896" cy="310896"/>
          </a:xfrm>
          <a:prstGeom prst="rect">
            <a:avLst/>
          </a:prstGeom>
        </p:spPr>
      </p:pic>
      <p:sp>
        <p:nvSpPr>
          <p:cNvPr id="6" name="Text 3"/>
          <p:cNvSpPr>
            <a:spLocks noGrp="1"/>
          </p:cNvSpPr>
          <p:nvPr>
            <p:ph type="title" idx="104" hasCustomPrompt="1"/>
          </p:nvPr>
        </p:nvSpPr>
        <p:spPr>
          <a:xfrm>
            <a:off x="868680" y="457200"/>
            <a:ext cx="8778240" cy="685800"/>
          </a:xfrm>
          <a:prstGeom prst="rect">
            <a:avLst/>
          </a:prstGeom>
          <a:noFill/>
          <a:ln/>
        </p:spPr>
        <p:txBody>
          <a:bodyPr wrap="square" rtlCol="0"/>
          <a:lstStyle>
            <a:lvl1pPr marL="0" indent="0" algn="l">
              <a:buNone/>
              <a:defRPr lang="en-US" sz="3000" kern="0" spc="100" dirty="0">
                <a:solidFill>
                  <a:srgbClr val="FFFFFF"/>
                </a:solidFill>
              </a:defRPr>
            </a:lvl1pPr>
          </a:lstStyle>
          <a:p>
            <a:pPr marL="0" indent="0" algn="l">
              <a:buNone/>
            </a:pPr>
            <a:endParaRPr lang="en-US" sz="3000" dirty="0"/>
          </a:p>
        </p:txBody>
      </p:sp>
      <p:sp>
        <p:nvSpPr>
          <p:cNvPr id="7" name="Text 3"/>
          <p:cNvSpPr>
            <a:spLocks noGrp="1"/>
          </p:cNvSpPr>
          <p:nvPr>
            <p:ph type="body" idx="105" hasCustomPrompt="1"/>
          </p:nvPr>
        </p:nvSpPr>
        <p:spPr>
          <a:xfrm>
            <a:off x="886968" y="1161288"/>
            <a:ext cx="8778240" cy="320040"/>
          </a:xfrm>
          <a:prstGeom prst="rect">
            <a:avLst/>
          </a:prstGeom>
          <a:noFill/>
          <a:ln/>
        </p:spPr>
        <p:txBody>
          <a:bodyPr wrap="square" rtlCol="0"/>
          <a:lstStyle>
            <a:lvl1pPr marL="0" indent="0" algn="l">
              <a:buNone/>
              <a:defRPr lang="en-US" sz="1200" b="1" kern="0" spc="400" dirty="0">
                <a:solidFill>
                  <a:srgbClr val="34D399"/>
                </a:solidFill>
                <a:latin typeface="Calibri" pitchFamily="34" charset="0"/>
                <a:ea typeface="Calibri" pitchFamily="34" charset="-122"/>
                <a:cs typeface="Calibri" pitchFamily="34" charset="-120"/>
              </a:defRPr>
            </a:lvl1pPr>
          </a:lstStyle>
          <a:p>
            <a:pPr marL="0" indent="0" algn="l">
              <a:buNone/>
            </a:pP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B9097"/>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S_SPLIT">
    <p:bg>
      <p:bgPr>
        <a:solidFill>
          <a:srgbClr val="F3F5F4"/>
        </a:solidFill>
        <a:effectLst/>
      </p:bgPr>
    </p:bg>
    <p:spTree>
      <p:nvGrpSpPr>
        <p:cNvPr id="1" name=""/>
        <p:cNvGrpSpPr/>
        <p:nvPr/>
      </p:nvGrpSpPr>
      <p:grpSpPr>
        <a:xfrm>
          <a:off x="0" y="0"/>
          <a:ext cx="0" cy="0"/>
          <a:chOff x="0" y="0"/>
          <a:chExt cx="0" cy="0"/>
        </a:xfrm>
      </p:grpSpPr>
      <p:sp>
        <p:nvSpPr>
          <p:cNvPr id="2" name="Shape 0"/>
          <p:cNvSpPr/>
          <p:nvPr/>
        </p:nvSpPr>
        <p:spPr>
          <a:xfrm>
            <a:off x="329184" y="502920"/>
            <a:ext cx="0" cy="960120"/>
          </a:xfrm>
          <a:prstGeom prst="line">
            <a:avLst/>
          </a:prstGeom>
          <a:noFill/>
          <a:ln w="12700">
            <a:solidFill>
              <a:srgbClr val="C9D0CB"/>
            </a:solidFill>
            <a:prstDash val="solid"/>
          </a:ln>
        </p:spPr>
      </p:sp>
      <p:sp>
        <p:nvSpPr>
          <p:cNvPr id="3" name="Text 1"/>
          <p:cNvSpPr/>
          <p:nvPr/>
        </p:nvSpPr>
        <p:spPr>
          <a:xfrm>
            <a:off x="192024" y="1828800"/>
            <a:ext cx="292608" cy="3291840"/>
          </a:xfrm>
          <a:prstGeom prst="rect">
            <a:avLst/>
          </a:prstGeom>
          <a:noFill/>
          <a:ln/>
        </p:spPr>
        <p:txBody>
          <a:bodyPr vert="vert270" wrap="square" lIns="0" tIns="0" rIns="0" bIns="0" rtlCol="0" anchor="ctr"/>
          <a:lstStyle/>
          <a:p>
            <a:pPr marL="0" indent="0" algn="ctr">
              <a:buNone/>
            </a:pPr>
            <a:r>
              <a:rPr lang="en-US" sz="900" b="1" kern="0" spc="300" dirty="0">
                <a:solidFill>
                  <a:srgbClr val="7B847E"/>
                </a:solidFill>
                <a:latin typeface="Calibri" pitchFamily="34" charset="0"/>
                <a:ea typeface="Calibri" pitchFamily="34" charset="-122"/>
                <a:cs typeface="Calibri" pitchFamily="34" charset="-120"/>
              </a:rPr>
              <a:t>FINSIGHT  ·  AAKAR GUPTA</a:t>
            </a:r>
            <a:endParaRPr lang="en-US" sz="900" dirty="0"/>
          </a:p>
        </p:txBody>
      </p:sp>
      <p:sp>
        <p:nvSpPr>
          <p:cNvPr id="4" name="Shape 2"/>
          <p:cNvSpPr/>
          <p:nvPr/>
        </p:nvSpPr>
        <p:spPr>
          <a:xfrm>
            <a:off x="329184" y="5486400"/>
            <a:ext cx="0" cy="502920"/>
          </a:xfrm>
          <a:prstGeom prst="line">
            <a:avLst/>
          </a:prstGeom>
          <a:noFill/>
          <a:ln w="12700">
            <a:solidFill>
              <a:srgbClr val="C9D0CB"/>
            </a:solidFill>
            <a:prstDash val="solid"/>
          </a:ln>
        </p:spPr>
      </p:sp>
      <p:pic>
        <p:nvPicPr>
          <p:cNvPr id="5" name="Image 0" descr="D:\Aakar\College\CAD Project\docs\report_assets\presentation\icons\brandmark.png"/>
          <p:cNvPicPr>
            <a:picLocks noChangeAspect="1"/>
          </p:cNvPicPr>
          <p:nvPr/>
        </p:nvPicPr>
        <p:blipFill>
          <a:blip r:embed="rId2"/>
          <a:stretch>
            <a:fillRect/>
          </a:stretch>
        </p:blipFill>
        <p:spPr>
          <a:xfrm>
            <a:off x="173736" y="6172200"/>
            <a:ext cx="310896" cy="310896"/>
          </a:xfrm>
          <a:prstGeom prst="rect">
            <a:avLst/>
          </a:prstGeom>
        </p:spPr>
      </p:pic>
      <p:sp>
        <p:nvSpPr>
          <p:cNvPr id="6" name="Text 3"/>
          <p:cNvSpPr>
            <a:spLocks noGrp="1"/>
          </p:cNvSpPr>
          <p:nvPr>
            <p:ph type="title" idx="104" hasCustomPrompt="1"/>
          </p:nvPr>
        </p:nvSpPr>
        <p:spPr>
          <a:xfrm>
            <a:off x="7589520" y="457200"/>
            <a:ext cx="4251960" cy="1051560"/>
          </a:xfrm>
          <a:prstGeom prst="rect">
            <a:avLst/>
          </a:prstGeom>
          <a:noFill/>
          <a:ln/>
        </p:spPr>
        <p:txBody>
          <a:bodyPr wrap="square" rtlCol="0"/>
          <a:lstStyle>
            <a:lvl1pPr marL="0" indent="0" algn="l">
              <a:buNone/>
              <a:defRPr lang="en-US" sz="2600" kern="0" spc="100" dirty="0">
                <a:solidFill>
                  <a:srgbClr val="16191F"/>
                </a:solidFill>
              </a:defRPr>
            </a:lvl1pPr>
          </a:lstStyle>
          <a:p>
            <a:pPr marL="0" indent="0" algn="l">
              <a:buNone/>
            </a:pPr>
            <a:endParaRPr lang="en-US" sz="2600" dirty="0"/>
          </a:p>
        </p:txBody>
      </p:sp>
      <p:sp>
        <p:nvSpPr>
          <p:cNvPr id="7" name="Text 3"/>
          <p:cNvSpPr>
            <a:spLocks noGrp="1"/>
          </p:cNvSpPr>
          <p:nvPr>
            <p:ph type="body" idx="105" hasCustomPrompt="1"/>
          </p:nvPr>
        </p:nvSpPr>
        <p:spPr>
          <a:xfrm>
            <a:off x="7607808" y="1572768"/>
            <a:ext cx="4251960" cy="320040"/>
          </a:xfrm>
          <a:prstGeom prst="rect">
            <a:avLst/>
          </a:prstGeom>
          <a:noFill/>
          <a:ln/>
        </p:spPr>
        <p:txBody>
          <a:bodyPr wrap="square" rtlCol="0"/>
          <a:lstStyle>
            <a:lvl1pPr marL="0" indent="0" algn="l">
              <a:buNone/>
              <a:defRPr lang="en-US" sz="1200" b="1" kern="0" spc="400" dirty="0">
                <a:solidFill>
                  <a:srgbClr val="047857"/>
                </a:solidFill>
                <a:latin typeface="Calibri" pitchFamily="34" charset="0"/>
                <a:ea typeface="Calibri" pitchFamily="34" charset="-122"/>
                <a:cs typeface="Calibri" pitchFamily="34" charset="-120"/>
              </a:defRPr>
            </a:lvl1pPr>
          </a:lstStyle>
          <a:p>
            <a:pPr marL="0" indent="0" algn="l">
              <a:buNone/>
            </a:pP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S_COVER">
    <p:bg>
      <p:bgPr>
        <a:solidFill>
          <a:srgbClr val="101114"/>
        </a:solidFill>
        <a:effectLst/>
      </p:bgPr>
    </p:bg>
    <p:spTree>
      <p:nvGrpSpPr>
        <p:cNvPr id="1" name=""/>
        <p:cNvGrpSpPr/>
        <p:nvPr/>
      </p:nvGrpSpPr>
      <p:grpSpPr>
        <a:xfrm>
          <a:off x="0" y="0"/>
          <a:ext cx="0" cy="0"/>
          <a:chOff x="0" y="0"/>
          <a:chExt cx="0" cy="0"/>
        </a:xfrm>
      </p:grpSpPr>
      <p:sp>
        <p:nvSpPr>
          <p:cNvPr id="2" name="Shape 0"/>
          <p:cNvSpPr/>
          <p:nvPr/>
        </p:nvSpPr>
        <p:spPr>
          <a:xfrm>
            <a:off x="329184" y="502920"/>
            <a:ext cx="0" cy="960120"/>
          </a:xfrm>
          <a:prstGeom prst="line">
            <a:avLst/>
          </a:prstGeom>
          <a:noFill/>
          <a:ln w="12700">
            <a:solidFill>
              <a:srgbClr val="3A3F47"/>
            </a:solidFill>
            <a:prstDash val="solid"/>
          </a:ln>
        </p:spPr>
      </p:sp>
      <p:sp>
        <p:nvSpPr>
          <p:cNvPr id="3" name="Text 1"/>
          <p:cNvSpPr/>
          <p:nvPr/>
        </p:nvSpPr>
        <p:spPr>
          <a:xfrm>
            <a:off x="192024" y="1828800"/>
            <a:ext cx="292608" cy="3291840"/>
          </a:xfrm>
          <a:prstGeom prst="rect">
            <a:avLst/>
          </a:prstGeom>
          <a:noFill/>
          <a:ln/>
        </p:spPr>
        <p:txBody>
          <a:bodyPr vert="vert270" wrap="square" lIns="0" tIns="0" rIns="0" bIns="0" rtlCol="0" anchor="ctr"/>
          <a:lstStyle/>
          <a:p>
            <a:pPr marL="0" indent="0" algn="ctr">
              <a:buNone/>
            </a:pPr>
            <a:r>
              <a:rPr lang="en-US" sz="900" b="1" kern="0" spc="300" dirty="0">
                <a:solidFill>
                  <a:srgbClr val="8B9097"/>
                </a:solidFill>
                <a:latin typeface="Calibri" pitchFamily="34" charset="0"/>
                <a:ea typeface="Calibri" pitchFamily="34" charset="-122"/>
                <a:cs typeface="Calibri" pitchFamily="34" charset="-120"/>
              </a:rPr>
              <a:t>FINSIGHT  ·  AAKAR GUPTA</a:t>
            </a:r>
            <a:endParaRPr lang="en-US" sz="900" dirty="0"/>
          </a:p>
        </p:txBody>
      </p:sp>
      <p:sp>
        <p:nvSpPr>
          <p:cNvPr id="4" name="Shape 2"/>
          <p:cNvSpPr/>
          <p:nvPr/>
        </p:nvSpPr>
        <p:spPr>
          <a:xfrm>
            <a:off x="329184" y="5486400"/>
            <a:ext cx="0" cy="502920"/>
          </a:xfrm>
          <a:prstGeom prst="line">
            <a:avLst/>
          </a:prstGeom>
          <a:noFill/>
          <a:ln w="12700">
            <a:solidFill>
              <a:srgbClr val="3A3F47"/>
            </a:solidFill>
            <a:prstDash val="solid"/>
          </a:ln>
        </p:spPr>
      </p:sp>
      <p:pic>
        <p:nvPicPr>
          <p:cNvPr id="5" name="Image 0" descr="D:\Aakar\College\CAD Project\docs\report_assets\presentation\icons\brandmark.png"/>
          <p:cNvPicPr>
            <a:picLocks noChangeAspect="1"/>
          </p:cNvPicPr>
          <p:nvPr/>
        </p:nvPicPr>
        <p:blipFill>
          <a:blip r:embed="rId2"/>
          <a:stretch>
            <a:fillRect/>
          </a:stretch>
        </p:blipFill>
        <p:spPr>
          <a:xfrm>
            <a:off x="173736" y="6172200"/>
            <a:ext cx="310896" cy="3108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ive dashboard screenshot" descr="C:\Users\Aakar\AppData\Local\Temp\finsight-deck-OB3SKH\dash_dark.png"/>
          <p:cNvPicPr>
            <a:picLocks noChangeAspect="1"/>
          </p:cNvPicPr>
          <p:nvPr/>
        </p:nvPicPr>
        <p:blipFill>
          <a:blip r:embed="rId3"/>
          <a:srcRect/>
          <a:stretch/>
        </p:blipFill>
        <p:spPr>
          <a:xfrm>
            <a:off x="5486400" y="0"/>
            <a:ext cx="6705295" cy="4663440"/>
          </a:xfrm>
          <a:prstGeom prst="rect">
            <a:avLst/>
          </a:prstGeom>
        </p:spPr>
      </p:pic>
      <p:sp>
        <p:nvSpPr>
          <p:cNvPr id="3" name="Cover panel"/>
          <p:cNvSpPr/>
          <p:nvPr/>
        </p:nvSpPr>
        <p:spPr>
          <a:xfrm>
            <a:off x="685800" y="2331720"/>
            <a:ext cx="6080760" cy="4069080"/>
          </a:xfrm>
          <a:prstGeom prst="rect">
            <a:avLst/>
          </a:prstGeom>
          <a:solidFill>
            <a:srgbClr val="101114"/>
          </a:solidFill>
          <a:ln/>
        </p:spPr>
      </p:sp>
      <p:sp>
        <p:nvSpPr>
          <p:cNvPr id="4" name="Cover title"/>
          <p:cNvSpPr txBox="1"/>
          <p:nvPr/>
        </p:nvSpPr>
        <p:spPr>
          <a:xfrm>
            <a:off x="868680" y="2514600"/>
            <a:ext cx="5760720" cy="914400"/>
          </a:xfrm>
          <a:prstGeom prst="rect">
            <a:avLst/>
          </a:prstGeom>
          <a:noFill/>
          <a:ln/>
        </p:spPr>
        <p:txBody>
          <a:bodyPr wrap="square" lIns="0" tIns="0" rIns="0" bIns="0" rtlCol="0" anchor="t"/>
          <a:lstStyle/>
          <a:p>
            <a:pPr marL="0" indent="0">
              <a:buNone/>
            </a:pPr>
            <a:r>
              <a:rPr lang="en-US" sz="5400" dirty="0">
                <a:solidFill>
                  <a:srgbClr val="FFFFFF"/>
                </a:solidFill>
                <a:latin typeface="Arial Black" pitchFamily="34" charset="0"/>
                <a:ea typeface="Arial Black" pitchFamily="34" charset="-122"/>
                <a:cs typeface="Arial Black" pitchFamily="34" charset="-120"/>
              </a:rPr>
              <a:t>FINSIGHT</a:t>
            </a:r>
            <a:endParaRPr lang="en-US" sz="5400" dirty="0"/>
          </a:p>
        </p:txBody>
      </p:sp>
      <p:sp>
        <p:nvSpPr>
          <p:cNvPr id="5" name="Full title"/>
          <p:cNvSpPr txBox="1"/>
          <p:nvPr/>
        </p:nvSpPr>
        <p:spPr>
          <a:xfrm>
            <a:off x="886968" y="3520440"/>
            <a:ext cx="5577840" cy="777240"/>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Cloud-Based Personal Finance Intelligence &amp; Expense Analytics Platform</a:t>
            </a:r>
            <a:endParaRPr lang="en-US" sz="2100" dirty="0"/>
          </a:p>
        </p:txBody>
      </p:sp>
      <p:sp>
        <p:nvSpPr>
          <p:cNvPr id="6" name="Tagline"/>
          <p:cNvSpPr txBox="1"/>
          <p:nvPr/>
        </p:nvSpPr>
        <p:spPr>
          <a:xfrm>
            <a:off x="886968" y="4434840"/>
            <a:ext cx="5852160" cy="274320"/>
          </a:xfrm>
          <a:prstGeom prst="rect">
            <a:avLst/>
          </a:prstGeom>
          <a:noFill/>
          <a:ln/>
        </p:spPr>
        <p:txBody>
          <a:bodyPr wrap="square" lIns="0" tIns="0" rIns="0" bIns="0" rtlCol="0" anchor="t"/>
          <a:lstStyle/>
          <a:p>
            <a:pPr marL="0" indent="0">
              <a:buNone/>
            </a:pPr>
            <a:r>
              <a:rPr lang="en-US" sz="1050" b="1" kern="0" spc="150" dirty="0">
                <a:solidFill>
                  <a:srgbClr val="34D399"/>
                </a:solidFill>
                <a:latin typeface="Calibri" pitchFamily="34" charset="0"/>
                <a:ea typeface="Calibri" pitchFamily="34" charset="-122"/>
                <a:cs typeface="Calibri" pitchFamily="34" charset="-120"/>
              </a:rPr>
              <a:t>UNDERSTAND YOUR SPENDING. MAKE SMARTER FINANCIAL DECISIONS.</a:t>
            </a:r>
            <a:endParaRPr lang="en-US" sz="1050" dirty="0"/>
          </a:p>
        </p:txBody>
      </p:sp>
      <p:sp>
        <p:nvSpPr>
          <p:cNvPr id="7" name="Author block"/>
          <p:cNvSpPr txBox="1"/>
          <p:nvPr/>
        </p:nvSpPr>
        <p:spPr>
          <a:xfrm>
            <a:off x="886968" y="4983480"/>
            <a:ext cx="5669280" cy="10972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Aakar Gupta</a:t>
            </a:r>
            <a:endParaRPr lang="en-US" sz="1600" dirty="0"/>
          </a:p>
          <a:p>
            <a:pPr marL="0" indent="0">
              <a:buNone/>
            </a:pPr>
            <a:r>
              <a:rPr lang="en-US" sz="1500" dirty="0">
                <a:solidFill>
                  <a:srgbClr val="A1A1AA"/>
                </a:solidFill>
                <a:latin typeface="Calibri" pitchFamily="34" charset="0"/>
                <a:ea typeface="Calibri" pitchFamily="34" charset="-122"/>
                <a:cs typeface="Calibri" pitchFamily="34" charset="-120"/>
              </a:rPr>
              <a:t>Registration No. 24BRS1321</a:t>
            </a:r>
            <a:endParaRPr lang="en-US" sz="1600" dirty="0"/>
          </a:p>
          <a:p>
            <a:pPr marL="0" indent="0">
              <a:buNone/>
            </a:pPr>
            <a:r>
              <a:rPr lang="en-US" sz="1500" dirty="0">
                <a:solidFill>
                  <a:srgbClr val="A1A1AA"/>
                </a:solidFill>
                <a:latin typeface="Calibri" pitchFamily="34" charset="0"/>
                <a:ea typeface="Calibri" pitchFamily="34" charset="-122"/>
                <a:cs typeface="Calibri" pitchFamily="34" charset="-120"/>
              </a:rPr>
              <a:t>Vellore Institute of Technology, Chennai</a:t>
            </a:r>
            <a:endParaRPr lang="en-US" sz="1600" dirty="0"/>
          </a:p>
        </p:txBody>
      </p:sp>
      <p:sp>
        <p:nvSpPr>
          <p:cNvPr id="8" name="Deployment facts"/>
          <p:cNvSpPr txBox="1"/>
          <p:nvPr/>
        </p:nvSpPr>
        <p:spPr>
          <a:xfrm>
            <a:off x="7086600" y="4983480"/>
            <a:ext cx="4754880" cy="1097280"/>
          </a:xfrm>
          <a:prstGeom prst="rect">
            <a:avLst/>
          </a:prstGeom>
          <a:noFill/>
          <a:ln/>
        </p:spPr>
        <p:txBody>
          <a:bodyPr wrap="square" lIns="0" tIns="0" rIns="0" bIns="0" rtlCol="0" anchor="t"/>
          <a:lstStyle/>
          <a:p>
            <a:pPr marL="0" indent="0">
              <a:buNone/>
            </a:pPr>
            <a:r>
              <a:rPr lang="en-US" sz="1100" b="1" kern="0" spc="300" dirty="0">
                <a:solidFill>
                  <a:srgbClr val="34D399"/>
                </a:solidFill>
                <a:latin typeface="Calibri" pitchFamily="34" charset="0"/>
                <a:ea typeface="Calibri" pitchFamily="34" charset="-122"/>
                <a:cs typeface="Calibri" pitchFamily="34" charset="-120"/>
              </a:rPr>
              <a:t>LIVE ON AWS · AP-SOUTH-1 (MUMBAI)</a:t>
            </a:r>
            <a:endParaRPr lang="en-US" sz="1600" dirty="0"/>
          </a:p>
          <a:p>
            <a:pPr marL="0" indent="0">
              <a:buNone/>
            </a:pPr>
            <a:r>
              <a:rPr lang="en-US" sz="1500" dirty="0">
                <a:solidFill>
                  <a:srgbClr val="FFFFFF"/>
                </a:solidFill>
                <a:latin typeface="Calibri" pitchFamily="34" charset="0"/>
                <a:ea typeface="Calibri" pitchFamily="34" charset="-122"/>
                <a:cs typeface="Calibri" pitchFamily="34" charset="-120"/>
              </a:rPr>
              <a:t>zkht2b4ib3.execute-api.ap-south-1.amazonaws.com</a:t>
            </a:r>
            <a:endParaRPr lang="en-US" sz="1600" dirty="0"/>
          </a:p>
          <a:p>
            <a:pPr marL="0" indent="0">
              <a:buNone/>
            </a:pPr>
            <a:r>
              <a:rPr lang="en-US" sz="1500" dirty="0">
                <a:solidFill>
                  <a:srgbClr val="A1A1AA"/>
                </a:solidFill>
                <a:latin typeface="Calibri" pitchFamily="34" charset="0"/>
                <a:ea typeface="Calibri" pitchFamily="34" charset="-122"/>
                <a:cs typeface="Calibri" pitchFamily="34" charset="-120"/>
              </a:rPr>
              <a:t>API Gateway · Lambda · DynamoDB · S3 · Cognito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PROBLEM AND MOTIVATION</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WHY PEOPLE LOSE TRACK OF THEIR MONEY</a:t>
            </a:r>
            <a:endParaRPr lang="en-US" sz="1200" dirty="0"/>
          </a:p>
        </p:txBody>
      </p:sp>
      <p:pic>
        <p:nvPicPr>
          <p:cNvPr id="4" name="Live landing page screenshot" descr="C:\Users\Aakar\AppData\Local\Temp\finsight-deck-OB3SKH\landing.png"/>
          <p:cNvPicPr>
            <a:picLocks noChangeAspect="1"/>
          </p:cNvPicPr>
          <p:nvPr/>
        </p:nvPicPr>
        <p:blipFill>
          <a:blip r:embed="rId3"/>
          <a:srcRect/>
          <a:stretch/>
        </p:blipFill>
        <p:spPr>
          <a:xfrm>
            <a:off x="7589520" y="0"/>
            <a:ext cx="4602175" cy="6858000"/>
          </a:xfrm>
          <a:prstGeom prst="rect">
            <a:avLst/>
          </a:prstGeom>
        </p:spPr>
      </p:pic>
      <p:sp>
        <p:nvSpPr>
          <p:cNvPr id="5" name="Low visibility circle"/>
          <p:cNvSpPr/>
          <p:nvPr/>
        </p:nvSpPr>
        <p:spPr>
          <a:xfrm>
            <a:off x="868680" y="1783080"/>
            <a:ext cx="566928" cy="566928"/>
          </a:xfrm>
          <a:prstGeom prst="ellipse">
            <a:avLst/>
          </a:prstGeom>
          <a:solidFill>
            <a:srgbClr val="16191F"/>
          </a:solidFill>
          <a:ln/>
        </p:spPr>
      </p:sp>
      <p:pic>
        <p:nvPicPr>
          <p:cNvPr id="6" name="Low visibility icon" descr="D:\Aakar\College\CAD Project\docs\report_assets\presentation\icons\Eye.png"/>
          <p:cNvPicPr>
            <a:picLocks noChangeAspect="1"/>
          </p:cNvPicPr>
          <p:nvPr/>
        </p:nvPicPr>
        <p:blipFill>
          <a:blip r:embed="rId4"/>
          <a:stretch>
            <a:fillRect/>
          </a:stretch>
        </p:blipFill>
        <p:spPr>
          <a:xfrm>
            <a:off x="982066" y="1896466"/>
            <a:ext cx="340157" cy="340157"/>
          </a:xfrm>
          <a:prstGeom prst="rect">
            <a:avLst/>
          </a:prstGeom>
        </p:spPr>
      </p:pic>
      <p:sp>
        <p:nvSpPr>
          <p:cNvPr id="7" name="Low visibility heading"/>
          <p:cNvSpPr txBox="1"/>
          <p:nvPr/>
        </p:nvSpPr>
        <p:spPr>
          <a:xfrm>
            <a:off x="1645920" y="1764792"/>
            <a:ext cx="5029200" cy="347472"/>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Low visibility</a:t>
            </a:r>
            <a:endParaRPr lang="en-US" sz="1900" dirty="0"/>
          </a:p>
        </p:txBody>
      </p:sp>
      <p:sp>
        <p:nvSpPr>
          <p:cNvPr id="8" name="Low visibility text"/>
          <p:cNvSpPr txBox="1"/>
          <p:nvPr/>
        </p:nvSpPr>
        <p:spPr>
          <a:xfrm>
            <a:off x="1645920" y="2130552"/>
            <a:ext cx="5120640" cy="566928"/>
          </a:xfrm>
          <a:prstGeom prst="rect">
            <a:avLst/>
          </a:prstGeom>
          <a:noFill/>
          <a:ln/>
        </p:spPr>
        <p:txBody>
          <a:bodyPr wrap="square" lIns="0" tIns="0" rIns="0" bIns="0" rtlCol="0" anchor="t"/>
          <a:lstStyle/>
          <a:p>
            <a:pPr marL="0" indent="0">
              <a:buNone/>
            </a:pPr>
            <a:r>
              <a:rPr lang="en-US" sz="1600" dirty="0">
                <a:solidFill>
                  <a:srgbClr val="5B6560"/>
                </a:solidFill>
                <a:latin typeface="Calibri" pitchFamily="34" charset="0"/>
                <a:ea typeface="Calibri" pitchFamily="34" charset="-122"/>
                <a:cs typeface="Calibri" pitchFamily="34" charset="-120"/>
              </a:rPr>
              <a:t>Spending is split across UPI, cards and cash, so totals and trends are hidden.</a:t>
            </a:r>
            <a:endParaRPr lang="en-US" sz="1600" dirty="0"/>
          </a:p>
        </p:txBody>
      </p:sp>
      <p:sp>
        <p:nvSpPr>
          <p:cNvPr id="9" name="Manual entry circle"/>
          <p:cNvSpPr/>
          <p:nvPr/>
        </p:nvSpPr>
        <p:spPr>
          <a:xfrm>
            <a:off x="868680" y="2807208"/>
            <a:ext cx="566928" cy="566928"/>
          </a:xfrm>
          <a:prstGeom prst="ellipse">
            <a:avLst/>
          </a:prstGeom>
          <a:solidFill>
            <a:srgbClr val="16191F"/>
          </a:solidFill>
          <a:ln/>
        </p:spPr>
      </p:sp>
      <p:pic>
        <p:nvPicPr>
          <p:cNvPr id="10" name="Manual entry icon" descr="D:\Aakar\College\CAD Project\docs\report_assets\presentation\icons\Receipt.png"/>
          <p:cNvPicPr>
            <a:picLocks noChangeAspect="1"/>
          </p:cNvPicPr>
          <p:nvPr/>
        </p:nvPicPr>
        <p:blipFill>
          <a:blip r:embed="rId5"/>
          <a:stretch>
            <a:fillRect/>
          </a:stretch>
        </p:blipFill>
        <p:spPr>
          <a:xfrm>
            <a:off x="982066" y="2920594"/>
            <a:ext cx="340157" cy="340157"/>
          </a:xfrm>
          <a:prstGeom prst="rect">
            <a:avLst/>
          </a:prstGeom>
        </p:spPr>
      </p:pic>
      <p:sp>
        <p:nvSpPr>
          <p:cNvPr id="11" name="Manual entry heading"/>
          <p:cNvSpPr txBox="1"/>
          <p:nvPr/>
        </p:nvSpPr>
        <p:spPr>
          <a:xfrm>
            <a:off x="1645920" y="2788920"/>
            <a:ext cx="5029200" cy="347472"/>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Manual entry</a:t>
            </a:r>
            <a:endParaRPr lang="en-US" sz="1900" dirty="0"/>
          </a:p>
        </p:txBody>
      </p:sp>
      <p:sp>
        <p:nvSpPr>
          <p:cNvPr id="12" name="Manual entry text"/>
          <p:cNvSpPr txBox="1"/>
          <p:nvPr/>
        </p:nvSpPr>
        <p:spPr>
          <a:xfrm>
            <a:off x="1645920" y="3154680"/>
            <a:ext cx="5120640" cy="566928"/>
          </a:xfrm>
          <a:prstGeom prst="rect">
            <a:avLst/>
          </a:prstGeom>
          <a:noFill/>
          <a:ln/>
        </p:spPr>
        <p:txBody>
          <a:bodyPr wrap="square" lIns="0" tIns="0" rIns="0" bIns="0" rtlCol="0" anchor="t"/>
          <a:lstStyle/>
          <a:p>
            <a:pPr marL="0" indent="0">
              <a:buNone/>
            </a:pPr>
            <a:r>
              <a:rPr lang="en-US" sz="1600" dirty="0">
                <a:solidFill>
                  <a:srgbClr val="5B6560"/>
                </a:solidFill>
                <a:latin typeface="Calibri" pitchFamily="34" charset="0"/>
                <a:ea typeface="Calibri" pitchFamily="34" charset="-122"/>
                <a:cs typeface="Calibri" pitchFamily="34" charset="-120"/>
              </a:rPr>
              <a:t>Paper receipts must be typed in by hand, so many purchases are never recorded.</a:t>
            </a:r>
            <a:endParaRPr lang="en-US" sz="1600" dirty="0"/>
          </a:p>
        </p:txBody>
      </p:sp>
      <p:sp>
        <p:nvSpPr>
          <p:cNvPr id="13" name="Unexplained numbers circle"/>
          <p:cNvSpPr/>
          <p:nvPr/>
        </p:nvSpPr>
        <p:spPr>
          <a:xfrm>
            <a:off x="868680" y="3831336"/>
            <a:ext cx="566928" cy="566928"/>
          </a:xfrm>
          <a:prstGeom prst="ellipse">
            <a:avLst/>
          </a:prstGeom>
          <a:solidFill>
            <a:srgbClr val="16191F"/>
          </a:solidFill>
          <a:ln/>
        </p:spPr>
      </p:sp>
      <p:pic>
        <p:nvPicPr>
          <p:cNvPr id="14" name="Unexplained numbers icon" descr="D:\Aakar\College\CAD Project\docs\report_assets\presentation\icons\HelpCircle.png"/>
          <p:cNvPicPr>
            <a:picLocks noChangeAspect="1"/>
          </p:cNvPicPr>
          <p:nvPr/>
        </p:nvPicPr>
        <p:blipFill>
          <a:blip r:embed="rId6"/>
          <a:stretch>
            <a:fillRect/>
          </a:stretch>
        </p:blipFill>
        <p:spPr>
          <a:xfrm>
            <a:off x="982066" y="3944722"/>
            <a:ext cx="340157" cy="340157"/>
          </a:xfrm>
          <a:prstGeom prst="rect">
            <a:avLst/>
          </a:prstGeom>
        </p:spPr>
      </p:pic>
      <p:sp>
        <p:nvSpPr>
          <p:cNvPr id="15" name="Unexplained numbers heading"/>
          <p:cNvSpPr txBox="1"/>
          <p:nvPr/>
        </p:nvSpPr>
        <p:spPr>
          <a:xfrm>
            <a:off x="1645920" y="3813048"/>
            <a:ext cx="5029200" cy="347472"/>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Unexplained numbers</a:t>
            </a:r>
            <a:endParaRPr lang="en-US" sz="1900" dirty="0"/>
          </a:p>
        </p:txBody>
      </p:sp>
      <p:sp>
        <p:nvSpPr>
          <p:cNvPr id="16" name="Unexplained numbers text"/>
          <p:cNvSpPr txBox="1"/>
          <p:nvPr/>
        </p:nvSpPr>
        <p:spPr>
          <a:xfrm>
            <a:off x="1645920" y="4178808"/>
            <a:ext cx="5120640" cy="566928"/>
          </a:xfrm>
          <a:prstGeom prst="rect">
            <a:avLst/>
          </a:prstGeom>
          <a:noFill/>
          <a:ln/>
        </p:spPr>
        <p:txBody>
          <a:bodyPr wrap="square" lIns="0" tIns="0" rIns="0" bIns="0" rtlCol="0" anchor="t"/>
          <a:lstStyle/>
          <a:p>
            <a:pPr marL="0" indent="0">
              <a:buNone/>
            </a:pPr>
            <a:r>
              <a:rPr lang="en-US" sz="1600" dirty="0">
                <a:solidFill>
                  <a:srgbClr val="5B6560"/>
                </a:solidFill>
                <a:latin typeface="Calibri" pitchFamily="34" charset="0"/>
                <a:ea typeface="Calibri" pitchFamily="34" charset="-122"/>
                <a:cs typeface="Calibri" pitchFamily="34" charset="-120"/>
              </a:rPr>
              <a:t>Charts show amounts, not the calculation or transactions behind them.</a:t>
            </a:r>
            <a:endParaRPr lang="en-US" sz="1600" dirty="0"/>
          </a:p>
        </p:txBody>
      </p:sp>
      <p:sp>
        <p:nvSpPr>
          <p:cNvPr id="17" name="Late discovery circle"/>
          <p:cNvSpPr/>
          <p:nvPr/>
        </p:nvSpPr>
        <p:spPr>
          <a:xfrm>
            <a:off x="868680" y="4855464"/>
            <a:ext cx="566928" cy="566928"/>
          </a:xfrm>
          <a:prstGeom prst="ellipse">
            <a:avLst/>
          </a:prstGeom>
          <a:solidFill>
            <a:srgbClr val="16191F"/>
          </a:solidFill>
          <a:ln/>
        </p:spPr>
      </p:sp>
      <p:pic>
        <p:nvPicPr>
          <p:cNvPr id="18" name="Late discovery icon" descr="D:\Aakar\College\CAD Project\docs\report_assets\presentation\icons\AlertTriangle.png"/>
          <p:cNvPicPr>
            <a:picLocks noChangeAspect="1"/>
          </p:cNvPicPr>
          <p:nvPr/>
        </p:nvPicPr>
        <p:blipFill>
          <a:blip r:embed="rId7"/>
          <a:stretch>
            <a:fillRect/>
          </a:stretch>
        </p:blipFill>
        <p:spPr>
          <a:xfrm>
            <a:off x="982066" y="4968850"/>
            <a:ext cx="340157" cy="340157"/>
          </a:xfrm>
          <a:prstGeom prst="rect">
            <a:avLst/>
          </a:prstGeom>
        </p:spPr>
      </p:pic>
      <p:sp>
        <p:nvSpPr>
          <p:cNvPr id="19" name="Late discovery heading"/>
          <p:cNvSpPr txBox="1"/>
          <p:nvPr/>
        </p:nvSpPr>
        <p:spPr>
          <a:xfrm>
            <a:off x="1645920" y="4837176"/>
            <a:ext cx="5029200" cy="347472"/>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Late discovery</a:t>
            </a:r>
            <a:endParaRPr lang="en-US" sz="1900" dirty="0"/>
          </a:p>
        </p:txBody>
      </p:sp>
      <p:sp>
        <p:nvSpPr>
          <p:cNvPr id="20" name="Late discovery text"/>
          <p:cNvSpPr txBox="1"/>
          <p:nvPr/>
        </p:nvSpPr>
        <p:spPr>
          <a:xfrm>
            <a:off x="1645920" y="5202936"/>
            <a:ext cx="5120640" cy="566928"/>
          </a:xfrm>
          <a:prstGeom prst="rect">
            <a:avLst/>
          </a:prstGeom>
          <a:noFill/>
          <a:ln/>
        </p:spPr>
        <p:txBody>
          <a:bodyPr wrap="square" lIns="0" tIns="0" rIns="0" bIns="0" rtlCol="0" anchor="t"/>
          <a:lstStyle/>
          <a:p>
            <a:pPr marL="0" indent="0">
              <a:buNone/>
            </a:pPr>
            <a:r>
              <a:rPr lang="en-US" sz="1600" dirty="0">
                <a:solidFill>
                  <a:srgbClr val="5B6560"/>
                </a:solidFill>
                <a:latin typeface="Calibri" pitchFamily="34" charset="0"/>
                <a:ea typeface="Calibri" pitchFamily="34" charset="-122"/>
                <a:cs typeface="Calibri" pitchFamily="34" charset="-120"/>
              </a:rPr>
              <a:t>Overspending and duplicate charges are noticed only at month end.</a:t>
            </a:r>
            <a:endParaRPr lang="en-US" sz="1600" dirty="0"/>
          </a:p>
        </p:txBody>
      </p:sp>
      <p:sp>
        <p:nvSpPr>
          <p:cNvPr id="21" name="Motivation card"/>
          <p:cNvSpPr/>
          <p:nvPr/>
        </p:nvSpPr>
        <p:spPr>
          <a:xfrm>
            <a:off x="6355080" y="5870448"/>
            <a:ext cx="4846320" cy="713232"/>
          </a:xfrm>
          <a:prstGeom prst="rect">
            <a:avLst/>
          </a:prstGeom>
          <a:solidFill>
            <a:srgbClr val="16191F"/>
          </a:solidFill>
          <a:ln/>
        </p:spPr>
      </p:sp>
      <p:sp>
        <p:nvSpPr>
          <p:cNvPr id="22" name="Motivation text"/>
          <p:cNvSpPr txBox="1"/>
          <p:nvPr/>
        </p:nvSpPr>
        <p:spPr>
          <a:xfrm>
            <a:off x="6583680" y="5943600"/>
            <a:ext cx="448056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Goal: every number FinSight shows can be traced to the user’s own records.</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OBJECTIVES AND KEY FEATURES</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ELEVEN OBJECTIVES · ALL IMPLEMENTED AND VERIFIED</a:t>
            </a:r>
            <a:endParaRPr lang="en-US" sz="1200" dirty="0"/>
          </a:p>
        </p:txBody>
      </p:sp>
      <p:sp>
        <p:nvSpPr>
          <p:cNvPr id="4" name="Expenses card"/>
          <p:cNvSpPr/>
          <p:nvPr/>
        </p:nvSpPr>
        <p:spPr>
          <a:xfrm>
            <a:off x="868680" y="1783080"/>
            <a:ext cx="2542032" cy="2176272"/>
          </a:xfrm>
          <a:prstGeom prst="rect">
            <a:avLst/>
          </a:prstGeom>
          <a:solidFill>
            <a:srgbClr val="FFFFFF"/>
          </a:solidFill>
          <a:ln w="9525">
            <a:solidFill>
              <a:srgbClr val="DCE2DE"/>
            </a:solidFill>
            <a:prstDash val="solid"/>
          </a:ln>
        </p:spPr>
      </p:sp>
      <p:sp>
        <p:nvSpPr>
          <p:cNvPr id="5" name="Expenses circle"/>
          <p:cNvSpPr/>
          <p:nvPr/>
        </p:nvSpPr>
        <p:spPr>
          <a:xfrm>
            <a:off x="1097280" y="2011680"/>
            <a:ext cx="512064" cy="512064"/>
          </a:xfrm>
          <a:prstGeom prst="ellipse">
            <a:avLst/>
          </a:prstGeom>
          <a:solidFill>
            <a:srgbClr val="16191F"/>
          </a:solidFill>
          <a:ln/>
        </p:spPr>
      </p:sp>
      <p:pic>
        <p:nvPicPr>
          <p:cNvPr id="6" name="Expenses icon" descr="D:\Aakar\College\CAD Project\docs\report_assets\presentation\icons\Wallet.png"/>
          <p:cNvPicPr>
            <a:picLocks noChangeAspect="1"/>
          </p:cNvPicPr>
          <p:nvPr/>
        </p:nvPicPr>
        <p:blipFill>
          <a:blip r:embed="rId3"/>
          <a:stretch>
            <a:fillRect/>
          </a:stretch>
        </p:blipFill>
        <p:spPr>
          <a:xfrm>
            <a:off x="1199693" y="2114093"/>
            <a:ext cx="307238" cy="307238"/>
          </a:xfrm>
          <a:prstGeom prst="rect">
            <a:avLst/>
          </a:prstGeom>
        </p:spPr>
      </p:pic>
      <p:sp>
        <p:nvSpPr>
          <p:cNvPr id="7" name="Expenses title"/>
          <p:cNvSpPr txBox="1"/>
          <p:nvPr/>
        </p:nvSpPr>
        <p:spPr>
          <a:xfrm>
            <a:off x="1097280" y="265176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Expenses</a:t>
            </a:r>
            <a:endParaRPr lang="en-US" sz="1900" dirty="0"/>
          </a:p>
        </p:txBody>
      </p:sp>
      <p:sp>
        <p:nvSpPr>
          <p:cNvPr id="8" name="Expenses text"/>
          <p:cNvSpPr txBox="1"/>
          <p:nvPr/>
        </p:nvSpPr>
        <p:spPr>
          <a:xfrm>
            <a:off x="1097280" y="304495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Add, edit, search, filter, sort and export, in exact paise</a:t>
            </a:r>
            <a:endParaRPr lang="en-US" sz="1500" dirty="0"/>
          </a:p>
        </p:txBody>
      </p:sp>
      <p:sp>
        <p:nvSpPr>
          <p:cNvPr id="9" name="Budgets card"/>
          <p:cNvSpPr/>
          <p:nvPr/>
        </p:nvSpPr>
        <p:spPr>
          <a:xfrm>
            <a:off x="3611880" y="1783080"/>
            <a:ext cx="2542032" cy="2176272"/>
          </a:xfrm>
          <a:prstGeom prst="rect">
            <a:avLst/>
          </a:prstGeom>
          <a:solidFill>
            <a:srgbClr val="FFFFFF"/>
          </a:solidFill>
          <a:ln w="9525">
            <a:solidFill>
              <a:srgbClr val="DCE2DE"/>
            </a:solidFill>
            <a:prstDash val="solid"/>
          </a:ln>
        </p:spPr>
      </p:sp>
      <p:sp>
        <p:nvSpPr>
          <p:cNvPr id="10" name="Budgets circle"/>
          <p:cNvSpPr/>
          <p:nvPr/>
        </p:nvSpPr>
        <p:spPr>
          <a:xfrm>
            <a:off x="3840480" y="2011680"/>
            <a:ext cx="512064" cy="512064"/>
          </a:xfrm>
          <a:prstGeom prst="ellipse">
            <a:avLst/>
          </a:prstGeom>
          <a:solidFill>
            <a:srgbClr val="16191F"/>
          </a:solidFill>
          <a:ln/>
        </p:spPr>
      </p:sp>
      <p:pic>
        <p:nvPicPr>
          <p:cNvPr id="11" name="Budgets icon" descr="D:\Aakar\College\CAD Project\docs\report_assets\presentation\icons\Gauge.png"/>
          <p:cNvPicPr>
            <a:picLocks noChangeAspect="1"/>
          </p:cNvPicPr>
          <p:nvPr/>
        </p:nvPicPr>
        <p:blipFill>
          <a:blip r:embed="rId4"/>
          <a:stretch>
            <a:fillRect/>
          </a:stretch>
        </p:blipFill>
        <p:spPr>
          <a:xfrm>
            <a:off x="3942893" y="2114093"/>
            <a:ext cx="307238" cy="307238"/>
          </a:xfrm>
          <a:prstGeom prst="rect">
            <a:avLst/>
          </a:prstGeom>
        </p:spPr>
      </p:pic>
      <p:sp>
        <p:nvSpPr>
          <p:cNvPr id="12" name="Budgets title"/>
          <p:cNvSpPr txBox="1"/>
          <p:nvPr/>
        </p:nvSpPr>
        <p:spPr>
          <a:xfrm>
            <a:off x="3840480" y="265176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Budgets</a:t>
            </a:r>
            <a:endParaRPr lang="en-US" sz="1900" dirty="0"/>
          </a:p>
        </p:txBody>
      </p:sp>
      <p:sp>
        <p:nvSpPr>
          <p:cNvPr id="13" name="Budgets text"/>
          <p:cNvSpPr txBox="1"/>
          <p:nvPr/>
        </p:nvSpPr>
        <p:spPr>
          <a:xfrm>
            <a:off x="3840480" y="304495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Overall and category budgets, one alert per threshold</a:t>
            </a:r>
            <a:endParaRPr lang="en-US" sz="1500" dirty="0"/>
          </a:p>
        </p:txBody>
      </p:sp>
      <p:sp>
        <p:nvSpPr>
          <p:cNvPr id="14" name="Analytics card"/>
          <p:cNvSpPr/>
          <p:nvPr/>
        </p:nvSpPr>
        <p:spPr>
          <a:xfrm>
            <a:off x="6355080" y="1783080"/>
            <a:ext cx="2542032" cy="2176272"/>
          </a:xfrm>
          <a:prstGeom prst="rect">
            <a:avLst/>
          </a:prstGeom>
          <a:solidFill>
            <a:srgbClr val="FFFFFF"/>
          </a:solidFill>
          <a:ln w="9525">
            <a:solidFill>
              <a:srgbClr val="DCE2DE"/>
            </a:solidFill>
            <a:prstDash val="solid"/>
          </a:ln>
        </p:spPr>
      </p:sp>
      <p:sp>
        <p:nvSpPr>
          <p:cNvPr id="15" name="Analytics circle"/>
          <p:cNvSpPr/>
          <p:nvPr/>
        </p:nvSpPr>
        <p:spPr>
          <a:xfrm>
            <a:off x="6583680" y="2011680"/>
            <a:ext cx="512064" cy="512064"/>
          </a:xfrm>
          <a:prstGeom prst="ellipse">
            <a:avLst/>
          </a:prstGeom>
          <a:solidFill>
            <a:srgbClr val="16191F"/>
          </a:solidFill>
          <a:ln/>
        </p:spPr>
      </p:sp>
      <p:pic>
        <p:nvPicPr>
          <p:cNvPr id="16" name="Analytics icon" descr="D:\Aakar\College\CAD Project\docs\report_assets\presentation\icons\TrendingUp.png"/>
          <p:cNvPicPr>
            <a:picLocks noChangeAspect="1"/>
          </p:cNvPicPr>
          <p:nvPr/>
        </p:nvPicPr>
        <p:blipFill>
          <a:blip r:embed="rId5"/>
          <a:stretch>
            <a:fillRect/>
          </a:stretch>
        </p:blipFill>
        <p:spPr>
          <a:xfrm>
            <a:off x="6686093" y="2114093"/>
            <a:ext cx="307238" cy="307238"/>
          </a:xfrm>
          <a:prstGeom prst="rect">
            <a:avLst/>
          </a:prstGeom>
        </p:spPr>
      </p:pic>
      <p:sp>
        <p:nvSpPr>
          <p:cNvPr id="17" name="Analytics title"/>
          <p:cNvSpPr txBox="1"/>
          <p:nvPr/>
        </p:nvSpPr>
        <p:spPr>
          <a:xfrm>
            <a:off x="6583680" y="265176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Analytics</a:t>
            </a:r>
            <a:endParaRPr lang="en-US" sz="1900" dirty="0"/>
          </a:p>
        </p:txBody>
      </p:sp>
      <p:sp>
        <p:nvSpPr>
          <p:cNvPr id="18" name="Analytics text"/>
          <p:cNvSpPr txBox="1"/>
          <p:nvPr/>
        </p:nvSpPr>
        <p:spPr>
          <a:xfrm>
            <a:off x="6583680" y="304495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Trends, categories, payment methods, merchants</a:t>
            </a:r>
            <a:endParaRPr lang="en-US" sz="1500" dirty="0"/>
          </a:p>
        </p:txBody>
      </p:sp>
      <p:sp>
        <p:nvSpPr>
          <p:cNvPr id="19" name="Insights card"/>
          <p:cNvSpPr/>
          <p:nvPr/>
        </p:nvSpPr>
        <p:spPr>
          <a:xfrm>
            <a:off x="9098280" y="1783080"/>
            <a:ext cx="2542032" cy="2176272"/>
          </a:xfrm>
          <a:prstGeom prst="rect">
            <a:avLst/>
          </a:prstGeom>
          <a:solidFill>
            <a:srgbClr val="FFFFFF"/>
          </a:solidFill>
          <a:ln w="9525">
            <a:solidFill>
              <a:srgbClr val="DCE2DE"/>
            </a:solidFill>
            <a:prstDash val="solid"/>
          </a:ln>
        </p:spPr>
      </p:sp>
      <p:sp>
        <p:nvSpPr>
          <p:cNvPr id="20" name="Insights circle"/>
          <p:cNvSpPr/>
          <p:nvPr/>
        </p:nvSpPr>
        <p:spPr>
          <a:xfrm>
            <a:off x="9326880" y="2011680"/>
            <a:ext cx="512064" cy="512064"/>
          </a:xfrm>
          <a:prstGeom prst="ellipse">
            <a:avLst/>
          </a:prstGeom>
          <a:solidFill>
            <a:srgbClr val="16191F"/>
          </a:solidFill>
          <a:ln/>
        </p:spPr>
      </p:sp>
      <p:pic>
        <p:nvPicPr>
          <p:cNvPr id="21" name="Insights icon" descr="D:\Aakar\College\CAD Project\docs\report_assets\presentation\icons\Sparkles.png"/>
          <p:cNvPicPr>
            <a:picLocks noChangeAspect="1"/>
          </p:cNvPicPr>
          <p:nvPr/>
        </p:nvPicPr>
        <p:blipFill>
          <a:blip r:embed="rId6"/>
          <a:stretch>
            <a:fillRect/>
          </a:stretch>
        </p:blipFill>
        <p:spPr>
          <a:xfrm>
            <a:off x="9429293" y="2114093"/>
            <a:ext cx="307238" cy="307238"/>
          </a:xfrm>
          <a:prstGeom prst="rect">
            <a:avLst/>
          </a:prstGeom>
        </p:spPr>
      </p:pic>
      <p:sp>
        <p:nvSpPr>
          <p:cNvPr id="22" name="Insights title"/>
          <p:cNvSpPr txBox="1"/>
          <p:nvPr/>
        </p:nvSpPr>
        <p:spPr>
          <a:xfrm>
            <a:off x="9326880" y="265176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Insights</a:t>
            </a:r>
            <a:endParaRPr lang="en-US" sz="1900" dirty="0"/>
          </a:p>
        </p:txBody>
      </p:sp>
      <p:sp>
        <p:nvSpPr>
          <p:cNvPr id="23" name="Insights text"/>
          <p:cNvSpPr txBox="1"/>
          <p:nvPr/>
        </p:nvSpPr>
        <p:spPr>
          <a:xfrm>
            <a:off x="9326880" y="304495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Labelled fact, estimate or projection, with evidence</a:t>
            </a:r>
            <a:endParaRPr lang="en-US" sz="1500" dirty="0"/>
          </a:p>
        </p:txBody>
      </p:sp>
      <p:sp>
        <p:nvSpPr>
          <p:cNvPr id="24" name="Anomalies card"/>
          <p:cNvSpPr/>
          <p:nvPr/>
        </p:nvSpPr>
        <p:spPr>
          <a:xfrm>
            <a:off x="868680" y="4160520"/>
            <a:ext cx="2542032" cy="2176272"/>
          </a:xfrm>
          <a:prstGeom prst="rect">
            <a:avLst/>
          </a:prstGeom>
          <a:solidFill>
            <a:srgbClr val="FFFFFF"/>
          </a:solidFill>
          <a:ln w="9525">
            <a:solidFill>
              <a:srgbClr val="DCE2DE"/>
            </a:solidFill>
            <a:prstDash val="solid"/>
          </a:ln>
        </p:spPr>
      </p:sp>
      <p:sp>
        <p:nvSpPr>
          <p:cNvPr id="25" name="Anomalies circle"/>
          <p:cNvSpPr/>
          <p:nvPr/>
        </p:nvSpPr>
        <p:spPr>
          <a:xfrm>
            <a:off x="1097280" y="4389120"/>
            <a:ext cx="512064" cy="512064"/>
          </a:xfrm>
          <a:prstGeom prst="ellipse">
            <a:avLst/>
          </a:prstGeom>
          <a:solidFill>
            <a:srgbClr val="16191F"/>
          </a:solidFill>
          <a:ln/>
        </p:spPr>
      </p:sp>
      <p:pic>
        <p:nvPicPr>
          <p:cNvPr id="26" name="Anomalies icon" descr="D:\Aakar\College\CAD Project\docs\report_assets\presentation\icons\ShieldAlert.png"/>
          <p:cNvPicPr>
            <a:picLocks noChangeAspect="1"/>
          </p:cNvPicPr>
          <p:nvPr/>
        </p:nvPicPr>
        <p:blipFill>
          <a:blip r:embed="rId7"/>
          <a:stretch>
            <a:fillRect/>
          </a:stretch>
        </p:blipFill>
        <p:spPr>
          <a:xfrm>
            <a:off x="1199693" y="4491533"/>
            <a:ext cx="307238" cy="307238"/>
          </a:xfrm>
          <a:prstGeom prst="rect">
            <a:avLst/>
          </a:prstGeom>
        </p:spPr>
      </p:pic>
      <p:sp>
        <p:nvSpPr>
          <p:cNvPr id="27" name="Anomalies title"/>
          <p:cNvSpPr txBox="1"/>
          <p:nvPr/>
        </p:nvSpPr>
        <p:spPr>
          <a:xfrm>
            <a:off x="1097280" y="502920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Anomalies</a:t>
            </a:r>
            <a:endParaRPr lang="en-US" sz="1900" dirty="0"/>
          </a:p>
        </p:txBody>
      </p:sp>
      <p:sp>
        <p:nvSpPr>
          <p:cNvPr id="28" name="Anomalies text"/>
          <p:cNvSpPr txBox="1"/>
          <p:nvPr/>
        </p:nvSpPr>
        <p:spPr>
          <a:xfrm>
            <a:off x="1097280" y="542239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Robust statistics flag charges for review only</a:t>
            </a:r>
            <a:endParaRPr lang="en-US" sz="1500" dirty="0"/>
          </a:p>
        </p:txBody>
      </p:sp>
      <p:sp>
        <p:nvSpPr>
          <p:cNvPr id="29" name="Receipt OCR card"/>
          <p:cNvSpPr/>
          <p:nvPr/>
        </p:nvSpPr>
        <p:spPr>
          <a:xfrm>
            <a:off x="3611880" y="4160520"/>
            <a:ext cx="2542032" cy="2176272"/>
          </a:xfrm>
          <a:prstGeom prst="rect">
            <a:avLst/>
          </a:prstGeom>
          <a:solidFill>
            <a:srgbClr val="FFFFFF"/>
          </a:solidFill>
          <a:ln w="9525">
            <a:solidFill>
              <a:srgbClr val="DCE2DE"/>
            </a:solidFill>
            <a:prstDash val="solid"/>
          </a:ln>
        </p:spPr>
      </p:sp>
      <p:sp>
        <p:nvSpPr>
          <p:cNvPr id="30" name="Receipt OCR circle"/>
          <p:cNvSpPr/>
          <p:nvPr/>
        </p:nvSpPr>
        <p:spPr>
          <a:xfrm>
            <a:off x="3840480" y="4389120"/>
            <a:ext cx="512064" cy="512064"/>
          </a:xfrm>
          <a:prstGeom prst="ellipse">
            <a:avLst/>
          </a:prstGeom>
          <a:solidFill>
            <a:srgbClr val="16191F"/>
          </a:solidFill>
          <a:ln/>
        </p:spPr>
      </p:sp>
      <p:pic>
        <p:nvPicPr>
          <p:cNvPr id="31" name="Receipt OCR icon" descr="D:\Aakar\College\CAD Project\docs\report_assets\presentation\icons\ScanLine.png"/>
          <p:cNvPicPr>
            <a:picLocks noChangeAspect="1"/>
          </p:cNvPicPr>
          <p:nvPr/>
        </p:nvPicPr>
        <p:blipFill>
          <a:blip r:embed="rId8"/>
          <a:stretch>
            <a:fillRect/>
          </a:stretch>
        </p:blipFill>
        <p:spPr>
          <a:xfrm>
            <a:off x="3942893" y="4491533"/>
            <a:ext cx="307238" cy="307238"/>
          </a:xfrm>
          <a:prstGeom prst="rect">
            <a:avLst/>
          </a:prstGeom>
        </p:spPr>
      </p:pic>
      <p:sp>
        <p:nvSpPr>
          <p:cNvPr id="32" name="Receipt OCR title"/>
          <p:cNvSpPr txBox="1"/>
          <p:nvPr/>
        </p:nvSpPr>
        <p:spPr>
          <a:xfrm>
            <a:off x="3840480" y="502920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Receipt OCR</a:t>
            </a:r>
            <a:endParaRPr lang="en-US" sz="1900" dirty="0"/>
          </a:p>
        </p:txBody>
      </p:sp>
      <p:sp>
        <p:nvSpPr>
          <p:cNvPr id="33" name="Receipt OCR text"/>
          <p:cNvSpPr txBox="1"/>
          <p:nvPr/>
        </p:nvSpPr>
        <p:spPr>
          <a:xfrm>
            <a:off x="3840480" y="542239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Tesseract reads the receipt; the user confirms</a:t>
            </a:r>
            <a:endParaRPr lang="en-US" sz="1500" dirty="0"/>
          </a:p>
        </p:txBody>
      </p:sp>
      <p:sp>
        <p:nvSpPr>
          <p:cNvPr id="34" name="What-If card"/>
          <p:cNvSpPr/>
          <p:nvPr/>
        </p:nvSpPr>
        <p:spPr>
          <a:xfrm>
            <a:off x="6355080" y="4160520"/>
            <a:ext cx="2542032" cy="2176272"/>
          </a:xfrm>
          <a:prstGeom prst="rect">
            <a:avLst/>
          </a:prstGeom>
          <a:solidFill>
            <a:srgbClr val="FFFFFF"/>
          </a:solidFill>
          <a:ln w="9525">
            <a:solidFill>
              <a:srgbClr val="DCE2DE"/>
            </a:solidFill>
            <a:prstDash val="solid"/>
          </a:ln>
        </p:spPr>
      </p:sp>
      <p:sp>
        <p:nvSpPr>
          <p:cNvPr id="35" name="What-If circle"/>
          <p:cNvSpPr/>
          <p:nvPr/>
        </p:nvSpPr>
        <p:spPr>
          <a:xfrm>
            <a:off x="6583680" y="4389120"/>
            <a:ext cx="512064" cy="512064"/>
          </a:xfrm>
          <a:prstGeom prst="ellipse">
            <a:avLst/>
          </a:prstGeom>
          <a:solidFill>
            <a:srgbClr val="16191F"/>
          </a:solidFill>
          <a:ln/>
        </p:spPr>
      </p:sp>
      <p:pic>
        <p:nvPicPr>
          <p:cNvPr id="36" name="What-If icon" descr="D:\Aakar\College\CAD Project\docs\report_assets\presentation\icons\FlaskConical.png"/>
          <p:cNvPicPr>
            <a:picLocks noChangeAspect="1"/>
          </p:cNvPicPr>
          <p:nvPr/>
        </p:nvPicPr>
        <p:blipFill>
          <a:blip r:embed="rId9"/>
          <a:stretch>
            <a:fillRect/>
          </a:stretch>
        </p:blipFill>
        <p:spPr>
          <a:xfrm>
            <a:off x="6686093" y="4491533"/>
            <a:ext cx="307238" cy="307238"/>
          </a:xfrm>
          <a:prstGeom prst="rect">
            <a:avLst/>
          </a:prstGeom>
        </p:spPr>
      </p:pic>
      <p:sp>
        <p:nvSpPr>
          <p:cNvPr id="37" name="What-If title"/>
          <p:cNvSpPr txBox="1"/>
          <p:nvPr/>
        </p:nvSpPr>
        <p:spPr>
          <a:xfrm>
            <a:off x="6583680" y="502920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What-If</a:t>
            </a:r>
            <a:endParaRPr lang="en-US" sz="1900" dirty="0"/>
          </a:p>
        </p:txBody>
      </p:sp>
      <p:sp>
        <p:nvSpPr>
          <p:cNvPr id="38" name="What-If text"/>
          <p:cNvSpPr txBox="1"/>
          <p:nvPr/>
        </p:nvSpPr>
        <p:spPr>
          <a:xfrm>
            <a:off x="6583680" y="542239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Up to four saving scenarios, no side effects</a:t>
            </a:r>
            <a:endParaRPr lang="en-US" sz="1500" dirty="0"/>
          </a:p>
        </p:txBody>
      </p:sp>
      <p:sp>
        <p:nvSpPr>
          <p:cNvPr id="39" name="Goals &amp; assistant card"/>
          <p:cNvSpPr/>
          <p:nvPr/>
        </p:nvSpPr>
        <p:spPr>
          <a:xfrm>
            <a:off x="9098280" y="4160520"/>
            <a:ext cx="2542032" cy="2176272"/>
          </a:xfrm>
          <a:prstGeom prst="rect">
            <a:avLst/>
          </a:prstGeom>
          <a:solidFill>
            <a:srgbClr val="FFFFFF"/>
          </a:solidFill>
          <a:ln w="9525">
            <a:solidFill>
              <a:srgbClr val="DCE2DE"/>
            </a:solidFill>
            <a:prstDash val="solid"/>
          </a:ln>
        </p:spPr>
      </p:sp>
      <p:sp>
        <p:nvSpPr>
          <p:cNvPr id="40" name="Goals &amp; assistant circle"/>
          <p:cNvSpPr/>
          <p:nvPr/>
        </p:nvSpPr>
        <p:spPr>
          <a:xfrm>
            <a:off x="9326880" y="4389120"/>
            <a:ext cx="512064" cy="512064"/>
          </a:xfrm>
          <a:prstGeom prst="ellipse">
            <a:avLst/>
          </a:prstGeom>
          <a:solidFill>
            <a:srgbClr val="16191F"/>
          </a:solidFill>
          <a:ln/>
        </p:spPr>
      </p:sp>
      <p:pic>
        <p:nvPicPr>
          <p:cNvPr id="41" name="Goals &amp; assistant icon" descr="D:\Aakar\College\CAD Project\docs\report_assets\presentation\icons\PiggyBank.png"/>
          <p:cNvPicPr>
            <a:picLocks noChangeAspect="1"/>
          </p:cNvPicPr>
          <p:nvPr/>
        </p:nvPicPr>
        <p:blipFill>
          <a:blip r:embed="rId10"/>
          <a:stretch>
            <a:fillRect/>
          </a:stretch>
        </p:blipFill>
        <p:spPr>
          <a:xfrm>
            <a:off x="9429293" y="4491533"/>
            <a:ext cx="307238" cy="307238"/>
          </a:xfrm>
          <a:prstGeom prst="rect">
            <a:avLst/>
          </a:prstGeom>
        </p:spPr>
      </p:pic>
      <p:sp>
        <p:nvSpPr>
          <p:cNvPr id="42" name="Goals &amp;amp; assistant title"/>
          <p:cNvSpPr txBox="1"/>
          <p:nvPr/>
        </p:nvSpPr>
        <p:spPr>
          <a:xfrm>
            <a:off x="9326880" y="5029200"/>
            <a:ext cx="214884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Goals &amp; assistant</a:t>
            </a:r>
            <a:endParaRPr lang="en-US" sz="1900" dirty="0"/>
          </a:p>
        </p:txBody>
      </p:sp>
      <p:sp>
        <p:nvSpPr>
          <p:cNvPr id="43" name="Goals &amp;amp; assistant text"/>
          <p:cNvSpPr txBox="1"/>
          <p:nvPr/>
        </p:nvSpPr>
        <p:spPr>
          <a:xfrm>
            <a:off x="9326880" y="5422392"/>
            <a:ext cx="2148840" cy="8229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Savings goals plus a rule-based assistant</a:t>
            </a:r>
            <a:endParaRPr lang="en-US" sz="1500" dirty="0"/>
          </a:p>
        </p:txBody>
      </p:sp>
      <p:sp>
        <p:nvSpPr>
          <p:cNvPr id="44"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Live dashboard (light theme)" descr="C:\Users\Aakar\AppData\Local\Temp\finsight-deck-OB3SKH\dash_light.png"/>
          <p:cNvPicPr>
            <a:picLocks noChangeAspect="1"/>
          </p:cNvPicPr>
          <p:nvPr/>
        </p:nvPicPr>
        <p:blipFill>
          <a:blip r:embed="rId3"/>
          <a:srcRect/>
          <a:stretch/>
        </p:blipFill>
        <p:spPr>
          <a:xfrm>
            <a:off x="685800" y="0"/>
            <a:ext cx="6263640" cy="6858000"/>
          </a:xfrm>
          <a:prstGeom prst="rect">
            <a:avLst/>
          </a:prstGeom>
        </p:spPr>
      </p:pic>
      <p:pic>
        <p:nvPicPr>
          <p:cNvPr id="3" name="Live mobile navigation" descr="D:\Aakar\College\CAD Project\docs\evidence\08_live_application\live_mobile_navigation.png"/>
          <p:cNvPicPr>
            <a:picLocks noChangeAspect="1"/>
          </p:cNvPicPr>
          <p:nvPr/>
        </p:nvPicPr>
        <p:blipFill>
          <a:blip r:embed="rId4"/>
          <a:stretch>
            <a:fillRect/>
          </a:stretch>
        </p:blipFill>
        <p:spPr>
          <a:xfrm>
            <a:off x="5440680" y="2331720"/>
            <a:ext cx="1783080" cy="3858768"/>
          </a:xfrm>
          <a:prstGeom prst="rect">
            <a:avLst/>
          </a:prstGeom>
        </p:spPr>
      </p:pic>
      <p:sp>
        <p:nvSpPr>
          <p:cNvPr id="4" name="Text 3"/>
          <p:cNvSpPr>
            <a:spLocks noGrp="1"/>
          </p:cNvSpPr>
          <p:nvPr>
            <p:ph type="title" idx="104" hasCustomPrompt="1"/>
          </p:nvPr>
        </p:nvSpPr>
        <p:spPr>
          <a:xfrm>
            <a:off x="7589520" y="457200"/>
            <a:ext cx="4251960" cy="1051560"/>
          </a:xfrm>
          <a:prstGeom prst="rect">
            <a:avLst/>
          </a:prstGeom>
          <a:noFill/>
          <a:ln/>
        </p:spPr>
        <p:txBody>
          <a:bodyPr wrap="square" lIns="0" tIns="0" rIns="0" bIns="0" rtlCol="0" anchor="t"/>
          <a:lstStyle/>
          <a:p>
            <a:pPr marL="0" indent="0" algn="l">
              <a:buNone/>
            </a:pPr>
            <a:r>
              <a:rPr lang="en-US" sz="2600" kern="0" spc="100" dirty="0">
                <a:solidFill>
                  <a:srgbClr val="16191F"/>
                </a:solidFill>
              </a:rPr>
              <a:t>APPLICATION OVERVIEW</a:t>
            </a:r>
            <a:endParaRPr lang="en-US" sz="2600" dirty="0"/>
          </a:p>
        </p:txBody>
      </p:sp>
      <p:sp>
        <p:nvSpPr>
          <p:cNvPr id="5" name="Text 3"/>
          <p:cNvSpPr>
            <a:spLocks noGrp="1"/>
          </p:cNvSpPr>
          <p:nvPr>
            <p:ph type="body" idx="105" hasCustomPrompt="1"/>
          </p:nvPr>
        </p:nvSpPr>
        <p:spPr>
          <a:xfrm>
            <a:off x="7607808" y="1572768"/>
            <a:ext cx="425196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LIVE SCREENS · SYNTHETIC TEST USER</a:t>
            </a:r>
            <a:endParaRPr lang="en-US" sz="1200" dirty="0"/>
          </a:p>
        </p:txBody>
      </p:sp>
      <p:sp>
        <p:nvSpPr>
          <p:cNvPr id="6" name="Overview bullets"/>
          <p:cNvSpPr txBox="1"/>
          <p:nvPr/>
        </p:nvSpPr>
        <p:spPr>
          <a:xfrm>
            <a:off x="7589520" y="2057400"/>
            <a:ext cx="4206240" cy="425196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16191F"/>
                </a:solidFill>
                <a:latin typeface="Calibri" pitchFamily="34" charset="0"/>
                <a:ea typeface="Calibri" pitchFamily="34" charset="-122"/>
                <a:cs typeface="Calibri" pitchFamily="34" charset="-120"/>
              </a:rPr>
              <a:t>16 routes: dashboard, transactions, budgets, analytics, insights, anomalies, receipts, What-If, assistant, goals</a:t>
            </a:r>
            <a:endParaRPr lang="en-US" sz="1600" dirty="0"/>
          </a:p>
          <a:p>
            <a:pPr marL="203200" indent="-203200">
              <a:spcAft>
                <a:spcPts val="700"/>
              </a:spcAft>
              <a:buSzPct val="100000"/>
              <a:buChar char="•"/>
            </a:pPr>
            <a:r>
              <a:rPr lang="en-US" sz="1600" dirty="0">
                <a:solidFill>
                  <a:srgbClr val="16191F"/>
                </a:solidFill>
                <a:latin typeface="Calibri" pitchFamily="34" charset="0"/>
                <a:ea typeface="Calibri" pitchFamily="34" charset="-122"/>
                <a:cs typeface="Calibri" pitchFamily="34" charset="-120"/>
              </a:rPr>
              <a:t>Cognito sign-in; every record scoped to the signed-in user in DynamoDB</a:t>
            </a:r>
            <a:endParaRPr lang="en-US" sz="1600" dirty="0"/>
          </a:p>
          <a:p>
            <a:pPr marL="203200" indent="-203200">
              <a:spcAft>
                <a:spcPts val="700"/>
              </a:spcAft>
              <a:buSzPct val="100000"/>
              <a:buChar char="•"/>
            </a:pPr>
            <a:r>
              <a:rPr lang="en-US" sz="1600" dirty="0">
                <a:solidFill>
                  <a:srgbClr val="16191F"/>
                </a:solidFill>
                <a:latin typeface="Calibri" pitchFamily="34" charset="0"/>
                <a:ea typeface="Calibri" pitchFamily="34" charset="-122"/>
                <a:cs typeface="Calibri" pitchFamily="34" charset="-120"/>
              </a:rPr>
              <a:t>Dark (default) and light themes; mobile drawer below 1024 px</a:t>
            </a:r>
            <a:endParaRPr lang="en-US" sz="1600" dirty="0"/>
          </a:p>
          <a:p>
            <a:pPr marL="203200" indent="-203200">
              <a:spcAft>
                <a:spcPts val="700"/>
              </a:spcAft>
              <a:buSzPct val="100000"/>
              <a:buChar char="•"/>
            </a:pPr>
            <a:r>
              <a:rPr lang="en-US" sz="1600" dirty="0">
                <a:solidFill>
                  <a:srgbClr val="16191F"/>
                </a:solidFill>
                <a:latin typeface="Calibri" pitchFamily="34" charset="0"/>
                <a:ea typeface="Calibri" pitchFamily="34" charset="-122"/>
                <a:cs typeface="Calibri" pitchFamily="34" charset="-120"/>
              </a:rPr>
              <a:t>Animations that respect reduced motion</a:t>
            </a:r>
            <a:endParaRPr lang="en-US" sz="1600" dirty="0"/>
          </a:p>
          <a:p>
            <a:pPr marL="203200" indent="-203200">
              <a:spcAft>
                <a:spcPts val="700"/>
              </a:spcAft>
              <a:buSzPct val="100000"/>
              <a:buChar char="•"/>
            </a:pPr>
            <a:r>
              <a:rPr lang="en-US" sz="1600" dirty="0">
                <a:solidFill>
                  <a:srgbClr val="16191F"/>
                </a:solidFill>
                <a:latin typeface="Calibri" pitchFamily="34" charset="0"/>
                <a:ea typeface="Calibri" pitchFamily="34" charset="-122"/>
                <a:cs typeface="Calibri" pitchFamily="34" charset="-120"/>
              </a:rPr>
              <a:t>“Created by Aakar Gupta” credit and an About-the-author dialog</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ACTUAL SYSTEM ARCHITECTURE</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AS DEPLOYED · STACK FINANCE-INTELLIGENCE-PROD · AP-SOUTH-1</a:t>
            </a:r>
            <a:endParaRPr lang="en-US" sz="1200" dirty="0"/>
          </a:p>
        </p:txBody>
      </p:sp>
      <p:sp>
        <p:nvSpPr>
          <p:cNvPr id="4" name="Browser box"/>
          <p:cNvSpPr/>
          <p:nvPr/>
        </p:nvSpPr>
        <p:spPr>
          <a:xfrm>
            <a:off x="868680" y="3246120"/>
            <a:ext cx="1783080" cy="960120"/>
          </a:xfrm>
          <a:prstGeom prst="rect">
            <a:avLst/>
          </a:prstGeom>
          <a:solidFill>
            <a:srgbClr val="FFFFFF"/>
          </a:solidFill>
          <a:ln w="12700">
            <a:solidFill>
              <a:srgbClr val="C9D0CB"/>
            </a:solidFill>
            <a:prstDash val="solid"/>
          </a:ln>
        </p:spPr>
      </p:sp>
      <p:sp>
        <p:nvSpPr>
          <p:cNvPr id="5" name="Browser circle"/>
          <p:cNvSpPr/>
          <p:nvPr/>
        </p:nvSpPr>
        <p:spPr>
          <a:xfrm>
            <a:off x="996696" y="3506724"/>
            <a:ext cx="438912" cy="438912"/>
          </a:xfrm>
          <a:prstGeom prst="ellipse">
            <a:avLst/>
          </a:prstGeom>
          <a:solidFill>
            <a:srgbClr val="16191F"/>
          </a:solidFill>
          <a:ln/>
        </p:spPr>
      </p:sp>
      <p:pic>
        <p:nvPicPr>
          <p:cNvPr id="6" name="Browser icon" descr="D:\Aakar\College\CAD Project\docs\report_assets\presentation\icons\Globe.png"/>
          <p:cNvPicPr>
            <a:picLocks noChangeAspect="1"/>
          </p:cNvPicPr>
          <p:nvPr/>
        </p:nvPicPr>
        <p:blipFill>
          <a:blip r:embed="rId3"/>
          <a:stretch>
            <a:fillRect/>
          </a:stretch>
        </p:blipFill>
        <p:spPr>
          <a:xfrm>
            <a:off x="1084478" y="3594506"/>
            <a:ext cx="263347" cy="263347"/>
          </a:xfrm>
          <a:prstGeom prst="rect">
            <a:avLst/>
          </a:prstGeom>
        </p:spPr>
      </p:pic>
      <p:sp>
        <p:nvSpPr>
          <p:cNvPr id="7" name="Browser label"/>
          <p:cNvSpPr txBox="1"/>
          <p:nvPr/>
        </p:nvSpPr>
        <p:spPr>
          <a:xfrm>
            <a:off x="1527048" y="3246120"/>
            <a:ext cx="103327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Browser</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React SPA</a:t>
            </a:r>
            <a:endParaRPr lang="en-US" sz="1600" dirty="0"/>
          </a:p>
        </p:txBody>
      </p:sp>
      <p:sp>
        <p:nvSpPr>
          <p:cNvPr id="8" name="API Gateway box"/>
          <p:cNvSpPr/>
          <p:nvPr/>
        </p:nvSpPr>
        <p:spPr>
          <a:xfrm>
            <a:off x="3063240" y="2011680"/>
            <a:ext cx="2057400" cy="3383280"/>
          </a:xfrm>
          <a:prstGeom prst="rect">
            <a:avLst/>
          </a:prstGeom>
          <a:solidFill>
            <a:srgbClr val="FFFFFF"/>
          </a:solidFill>
          <a:ln w="12700">
            <a:solidFill>
              <a:srgbClr val="C9D0CB"/>
            </a:solidFill>
            <a:prstDash val="solid"/>
          </a:ln>
        </p:spPr>
      </p:sp>
      <p:sp>
        <p:nvSpPr>
          <p:cNvPr id="9" name="API Gateway circle"/>
          <p:cNvSpPr/>
          <p:nvPr/>
        </p:nvSpPr>
        <p:spPr>
          <a:xfrm>
            <a:off x="3191256" y="3483864"/>
            <a:ext cx="438912" cy="438912"/>
          </a:xfrm>
          <a:prstGeom prst="ellipse">
            <a:avLst/>
          </a:prstGeom>
          <a:solidFill>
            <a:srgbClr val="16191F"/>
          </a:solidFill>
          <a:ln/>
        </p:spPr>
      </p:sp>
      <p:pic>
        <p:nvPicPr>
          <p:cNvPr id="10" name="API Gateway icon" descr="D:\Aakar\College\CAD Project\docs\report_assets\presentation\icons\Layers.png"/>
          <p:cNvPicPr>
            <a:picLocks noChangeAspect="1"/>
          </p:cNvPicPr>
          <p:nvPr/>
        </p:nvPicPr>
        <p:blipFill>
          <a:blip r:embed="rId4"/>
          <a:stretch>
            <a:fillRect/>
          </a:stretch>
        </p:blipFill>
        <p:spPr>
          <a:xfrm>
            <a:off x="3279038" y="3571646"/>
            <a:ext cx="263347" cy="263347"/>
          </a:xfrm>
          <a:prstGeom prst="rect">
            <a:avLst/>
          </a:prstGeom>
        </p:spPr>
      </p:pic>
      <p:sp>
        <p:nvSpPr>
          <p:cNvPr id="11" name="API Gateway label"/>
          <p:cNvSpPr txBox="1"/>
          <p:nvPr/>
        </p:nvSpPr>
        <p:spPr>
          <a:xfrm>
            <a:off x="3721608" y="2011680"/>
            <a:ext cx="1307592" cy="338328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API Gateway</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HTTP API · JWT authorizer · 25 rps</a:t>
            </a:r>
            <a:endParaRPr lang="en-US" sz="1600" dirty="0"/>
          </a:p>
        </p:txBody>
      </p:sp>
      <p:sp>
        <p:nvSpPr>
          <p:cNvPr id="12" name="WebFunction box"/>
          <p:cNvSpPr/>
          <p:nvPr/>
        </p:nvSpPr>
        <p:spPr>
          <a:xfrm>
            <a:off x="5532120" y="1828800"/>
            <a:ext cx="2331720" cy="960120"/>
          </a:xfrm>
          <a:prstGeom prst="rect">
            <a:avLst/>
          </a:prstGeom>
          <a:solidFill>
            <a:srgbClr val="FFFFFF"/>
          </a:solidFill>
          <a:ln w="12700">
            <a:solidFill>
              <a:srgbClr val="C9D0CB"/>
            </a:solidFill>
            <a:prstDash val="solid"/>
          </a:ln>
        </p:spPr>
      </p:sp>
      <p:sp>
        <p:nvSpPr>
          <p:cNvPr id="13" name="WebFunction circle"/>
          <p:cNvSpPr/>
          <p:nvPr/>
        </p:nvSpPr>
        <p:spPr>
          <a:xfrm>
            <a:off x="5660136" y="2089404"/>
            <a:ext cx="438912" cy="438912"/>
          </a:xfrm>
          <a:prstGeom prst="ellipse">
            <a:avLst/>
          </a:prstGeom>
          <a:solidFill>
            <a:srgbClr val="16191F"/>
          </a:solidFill>
          <a:ln/>
        </p:spPr>
      </p:sp>
      <p:pic>
        <p:nvPicPr>
          <p:cNvPr id="14" name="WebFunction icon" descr="D:\Aakar\College\CAD Project\docs\report_assets\presentation\icons\Server.png"/>
          <p:cNvPicPr>
            <a:picLocks noChangeAspect="1"/>
          </p:cNvPicPr>
          <p:nvPr/>
        </p:nvPicPr>
        <p:blipFill>
          <a:blip r:embed="rId5"/>
          <a:stretch>
            <a:fillRect/>
          </a:stretch>
        </p:blipFill>
        <p:spPr>
          <a:xfrm>
            <a:off x="5747918" y="2177186"/>
            <a:ext cx="263347" cy="263347"/>
          </a:xfrm>
          <a:prstGeom prst="rect">
            <a:avLst/>
          </a:prstGeom>
        </p:spPr>
      </p:pic>
      <p:sp>
        <p:nvSpPr>
          <p:cNvPr id="15" name="WebFunction label"/>
          <p:cNvSpPr txBox="1"/>
          <p:nvPr/>
        </p:nvSpPr>
        <p:spPr>
          <a:xfrm>
            <a:off x="6190488" y="1828800"/>
            <a:ext cx="158191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WebFunction</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serves the built SPA</a:t>
            </a:r>
            <a:endParaRPr lang="en-US" sz="1600" dirty="0"/>
          </a:p>
        </p:txBody>
      </p:sp>
      <p:sp>
        <p:nvSpPr>
          <p:cNvPr id="16" name="API functions box"/>
          <p:cNvSpPr/>
          <p:nvPr/>
        </p:nvSpPr>
        <p:spPr>
          <a:xfrm>
            <a:off x="5532120" y="3246120"/>
            <a:ext cx="2331720" cy="960120"/>
          </a:xfrm>
          <a:prstGeom prst="rect">
            <a:avLst/>
          </a:prstGeom>
          <a:solidFill>
            <a:srgbClr val="FFFFFF"/>
          </a:solidFill>
          <a:ln w="12700">
            <a:solidFill>
              <a:srgbClr val="C9D0CB"/>
            </a:solidFill>
            <a:prstDash val="solid"/>
          </a:ln>
        </p:spPr>
      </p:sp>
      <p:sp>
        <p:nvSpPr>
          <p:cNvPr id="17" name="API functions circle"/>
          <p:cNvSpPr/>
          <p:nvPr/>
        </p:nvSpPr>
        <p:spPr>
          <a:xfrm>
            <a:off x="5660136" y="3506724"/>
            <a:ext cx="438912" cy="438912"/>
          </a:xfrm>
          <a:prstGeom prst="ellipse">
            <a:avLst/>
          </a:prstGeom>
          <a:solidFill>
            <a:srgbClr val="16191F"/>
          </a:solidFill>
          <a:ln/>
        </p:spPr>
      </p:sp>
      <p:pic>
        <p:nvPicPr>
          <p:cNvPr id="18" name="API functions icon" descr="D:\Aakar\College\CAD Project\docs\report_assets\presentation\icons\Code2.png"/>
          <p:cNvPicPr>
            <a:picLocks noChangeAspect="1"/>
          </p:cNvPicPr>
          <p:nvPr/>
        </p:nvPicPr>
        <p:blipFill>
          <a:blip r:embed="rId6"/>
          <a:stretch>
            <a:fillRect/>
          </a:stretch>
        </p:blipFill>
        <p:spPr>
          <a:xfrm>
            <a:off x="5747918" y="3594506"/>
            <a:ext cx="263347" cy="263347"/>
          </a:xfrm>
          <a:prstGeom prst="rect">
            <a:avLst/>
          </a:prstGeom>
        </p:spPr>
      </p:pic>
      <p:sp>
        <p:nvSpPr>
          <p:cNvPr id="19" name="API functions label"/>
          <p:cNvSpPr txBox="1"/>
          <p:nvPr/>
        </p:nvSpPr>
        <p:spPr>
          <a:xfrm>
            <a:off x="6190488" y="3246120"/>
            <a:ext cx="158191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7 API functions</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Python 3.13 · FastAPI</a:t>
            </a:r>
            <a:endParaRPr lang="en-US" sz="1600" dirty="0"/>
          </a:p>
        </p:txBody>
      </p:sp>
      <p:sp>
        <p:nvSpPr>
          <p:cNvPr id="20" name="Receipts function box"/>
          <p:cNvSpPr/>
          <p:nvPr/>
        </p:nvSpPr>
        <p:spPr>
          <a:xfrm>
            <a:off x="5532120" y="4663440"/>
            <a:ext cx="2331720" cy="960120"/>
          </a:xfrm>
          <a:prstGeom prst="rect">
            <a:avLst/>
          </a:prstGeom>
          <a:solidFill>
            <a:srgbClr val="FFFFFF"/>
          </a:solidFill>
          <a:ln w="12700">
            <a:solidFill>
              <a:srgbClr val="C9D0CB"/>
            </a:solidFill>
            <a:prstDash val="solid"/>
          </a:ln>
        </p:spPr>
      </p:sp>
      <p:sp>
        <p:nvSpPr>
          <p:cNvPr id="21" name="Receipts function circle"/>
          <p:cNvSpPr/>
          <p:nvPr/>
        </p:nvSpPr>
        <p:spPr>
          <a:xfrm>
            <a:off x="5660136" y="4924044"/>
            <a:ext cx="438912" cy="438912"/>
          </a:xfrm>
          <a:prstGeom prst="ellipse">
            <a:avLst/>
          </a:prstGeom>
          <a:solidFill>
            <a:srgbClr val="16191F"/>
          </a:solidFill>
          <a:ln/>
        </p:spPr>
      </p:sp>
      <p:pic>
        <p:nvPicPr>
          <p:cNvPr id="22" name="Receipts function icon" descr="D:\Aakar\College\CAD Project\docs\report_assets\presentation\icons\ScanLine.png"/>
          <p:cNvPicPr>
            <a:picLocks noChangeAspect="1"/>
          </p:cNvPicPr>
          <p:nvPr/>
        </p:nvPicPr>
        <p:blipFill>
          <a:blip r:embed="rId7"/>
          <a:stretch>
            <a:fillRect/>
          </a:stretch>
        </p:blipFill>
        <p:spPr>
          <a:xfrm>
            <a:off x="5747918" y="5011826"/>
            <a:ext cx="263347" cy="263347"/>
          </a:xfrm>
          <a:prstGeom prst="rect">
            <a:avLst/>
          </a:prstGeom>
        </p:spPr>
      </p:pic>
      <p:sp>
        <p:nvSpPr>
          <p:cNvPr id="23" name="Receipts function label"/>
          <p:cNvSpPr txBox="1"/>
          <p:nvPr/>
        </p:nvSpPr>
        <p:spPr>
          <a:xfrm>
            <a:off x="6190488" y="4663440"/>
            <a:ext cx="158191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Receipts function</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container · Tesseract 5.5</a:t>
            </a:r>
            <a:endParaRPr lang="en-US" sz="1600" dirty="0"/>
          </a:p>
        </p:txBody>
      </p:sp>
      <p:sp>
        <p:nvSpPr>
          <p:cNvPr id="24" name="Cognito box"/>
          <p:cNvSpPr/>
          <p:nvPr/>
        </p:nvSpPr>
        <p:spPr>
          <a:xfrm>
            <a:off x="8275320" y="1828800"/>
            <a:ext cx="1828800" cy="960120"/>
          </a:xfrm>
          <a:prstGeom prst="rect">
            <a:avLst/>
          </a:prstGeom>
          <a:solidFill>
            <a:srgbClr val="FFFFFF"/>
          </a:solidFill>
          <a:ln w="12700">
            <a:solidFill>
              <a:srgbClr val="C9D0CB"/>
            </a:solidFill>
            <a:prstDash val="solid"/>
          </a:ln>
        </p:spPr>
      </p:sp>
      <p:sp>
        <p:nvSpPr>
          <p:cNvPr id="25" name="Cognito circle"/>
          <p:cNvSpPr/>
          <p:nvPr/>
        </p:nvSpPr>
        <p:spPr>
          <a:xfrm>
            <a:off x="8403336" y="2089404"/>
            <a:ext cx="438912" cy="438912"/>
          </a:xfrm>
          <a:prstGeom prst="ellipse">
            <a:avLst/>
          </a:prstGeom>
          <a:solidFill>
            <a:srgbClr val="16191F"/>
          </a:solidFill>
          <a:ln/>
        </p:spPr>
      </p:sp>
      <p:pic>
        <p:nvPicPr>
          <p:cNvPr id="26" name="Cognito icon" descr="D:\Aakar\College\CAD Project\docs\report_assets\presentation\icons\KeyRound.png"/>
          <p:cNvPicPr>
            <a:picLocks noChangeAspect="1"/>
          </p:cNvPicPr>
          <p:nvPr/>
        </p:nvPicPr>
        <p:blipFill>
          <a:blip r:embed="rId8"/>
          <a:stretch>
            <a:fillRect/>
          </a:stretch>
        </p:blipFill>
        <p:spPr>
          <a:xfrm>
            <a:off x="8491118" y="2177186"/>
            <a:ext cx="263347" cy="263347"/>
          </a:xfrm>
          <a:prstGeom prst="rect">
            <a:avLst/>
          </a:prstGeom>
        </p:spPr>
      </p:pic>
      <p:sp>
        <p:nvSpPr>
          <p:cNvPr id="27" name="Cognito label"/>
          <p:cNvSpPr txBox="1"/>
          <p:nvPr/>
        </p:nvSpPr>
        <p:spPr>
          <a:xfrm>
            <a:off x="8933688" y="1828800"/>
            <a:ext cx="107899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Cognito</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user pool (Lite)</a:t>
            </a:r>
            <a:endParaRPr lang="en-US" sz="1600" dirty="0"/>
          </a:p>
        </p:txBody>
      </p:sp>
      <p:sp>
        <p:nvSpPr>
          <p:cNvPr id="28" name="DynamoDB box"/>
          <p:cNvSpPr/>
          <p:nvPr/>
        </p:nvSpPr>
        <p:spPr>
          <a:xfrm>
            <a:off x="8275320" y="3246120"/>
            <a:ext cx="1828800" cy="960120"/>
          </a:xfrm>
          <a:prstGeom prst="rect">
            <a:avLst/>
          </a:prstGeom>
          <a:solidFill>
            <a:srgbClr val="FFFFFF"/>
          </a:solidFill>
          <a:ln w="12700">
            <a:solidFill>
              <a:srgbClr val="C9D0CB"/>
            </a:solidFill>
            <a:prstDash val="solid"/>
          </a:ln>
        </p:spPr>
      </p:sp>
      <p:sp>
        <p:nvSpPr>
          <p:cNvPr id="29" name="DynamoDB circle"/>
          <p:cNvSpPr/>
          <p:nvPr/>
        </p:nvSpPr>
        <p:spPr>
          <a:xfrm>
            <a:off x="8403336" y="3506724"/>
            <a:ext cx="438912" cy="438912"/>
          </a:xfrm>
          <a:prstGeom prst="ellipse">
            <a:avLst/>
          </a:prstGeom>
          <a:solidFill>
            <a:srgbClr val="16191F"/>
          </a:solidFill>
          <a:ln/>
        </p:spPr>
      </p:sp>
      <p:pic>
        <p:nvPicPr>
          <p:cNvPr id="30" name="DynamoDB icon" descr="D:\Aakar\College\CAD Project\docs\report_assets\presentation\icons\Database.png"/>
          <p:cNvPicPr>
            <a:picLocks noChangeAspect="1"/>
          </p:cNvPicPr>
          <p:nvPr/>
        </p:nvPicPr>
        <p:blipFill>
          <a:blip r:embed="rId9"/>
          <a:stretch>
            <a:fillRect/>
          </a:stretch>
        </p:blipFill>
        <p:spPr>
          <a:xfrm>
            <a:off x="8491118" y="3594506"/>
            <a:ext cx="263347" cy="263347"/>
          </a:xfrm>
          <a:prstGeom prst="rect">
            <a:avLst/>
          </a:prstGeom>
        </p:spPr>
      </p:pic>
      <p:sp>
        <p:nvSpPr>
          <p:cNvPr id="31" name="DynamoDB label"/>
          <p:cNvSpPr txBox="1"/>
          <p:nvPr/>
        </p:nvSpPr>
        <p:spPr>
          <a:xfrm>
            <a:off x="8933688" y="3246120"/>
            <a:ext cx="107899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DynamoDB</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single table + GSI1</a:t>
            </a:r>
            <a:endParaRPr lang="en-US" sz="1600" dirty="0"/>
          </a:p>
        </p:txBody>
      </p:sp>
      <p:sp>
        <p:nvSpPr>
          <p:cNvPr id="32" name="S3 receipts box"/>
          <p:cNvSpPr/>
          <p:nvPr/>
        </p:nvSpPr>
        <p:spPr>
          <a:xfrm>
            <a:off x="8275320" y="4663440"/>
            <a:ext cx="1828800" cy="960120"/>
          </a:xfrm>
          <a:prstGeom prst="rect">
            <a:avLst/>
          </a:prstGeom>
          <a:solidFill>
            <a:srgbClr val="FFFFFF"/>
          </a:solidFill>
          <a:ln w="12700">
            <a:solidFill>
              <a:srgbClr val="C9D0CB"/>
            </a:solidFill>
            <a:prstDash val="solid"/>
          </a:ln>
        </p:spPr>
      </p:sp>
      <p:sp>
        <p:nvSpPr>
          <p:cNvPr id="33" name="S3 receipts circle"/>
          <p:cNvSpPr/>
          <p:nvPr/>
        </p:nvSpPr>
        <p:spPr>
          <a:xfrm>
            <a:off x="8403336" y="4924044"/>
            <a:ext cx="438912" cy="438912"/>
          </a:xfrm>
          <a:prstGeom prst="ellipse">
            <a:avLst/>
          </a:prstGeom>
          <a:solidFill>
            <a:srgbClr val="16191F"/>
          </a:solidFill>
          <a:ln/>
        </p:spPr>
      </p:sp>
      <p:pic>
        <p:nvPicPr>
          <p:cNvPr id="34" name="S3 receipts icon" descr="D:\Aakar\College\CAD Project\docs\report_assets\presentation\icons\HardDrive.png"/>
          <p:cNvPicPr>
            <a:picLocks noChangeAspect="1"/>
          </p:cNvPicPr>
          <p:nvPr/>
        </p:nvPicPr>
        <p:blipFill>
          <a:blip r:embed="rId10"/>
          <a:stretch>
            <a:fillRect/>
          </a:stretch>
        </p:blipFill>
        <p:spPr>
          <a:xfrm>
            <a:off x="8491118" y="5011826"/>
            <a:ext cx="263347" cy="263347"/>
          </a:xfrm>
          <a:prstGeom prst="rect">
            <a:avLst/>
          </a:prstGeom>
        </p:spPr>
      </p:pic>
      <p:sp>
        <p:nvSpPr>
          <p:cNvPr id="35" name="S3 receipts label"/>
          <p:cNvSpPr txBox="1"/>
          <p:nvPr/>
        </p:nvSpPr>
        <p:spPr>
          <a:xfrm>
            <a:off x="8933688" y="4663440"/>
            <a:ext cx="1078992"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S3 receipts</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private · presigned</a:t>
            </a:r>
            <a:endParaRPr lang="en-US" sz="1600" dirty="0"/>
          </a:p>
        </p:txBody>
      </p:sp>
      <p:sp>
        <p:nvSpPr>
          <p:cNvPr id="36" name="CloudWatch box"/>
          <p:cNvSpPr/>
          <p:nvPr/>
        </p:nvSpPr>
        <p:spPr>
          <a:xfrm>
            <a:off x="10332720" y="1828800"/>
            <a:ext cx="1463040" cy="2377440"/>
          </a:xfrm>
          <a:prstGeom prst="rect">
            <a:avLst/>
          </a:prstGeom>
          <a:solidFill>
            <a:srgbClr val="FFFFFF"/>
          </a:solidFill>
          <a:ln w="12700">
            <a:solidFill>
              <a:srgbClr val="C9D0CB"/>
            </a:solidFill>
            <a:prstDash val="solid"/>
          </a:ln>
        </p:spPr>
      </p:sp>
      <p:sp>
        <p:nvSpPr>
          <p:cNvPr id="37" name="CloudWatch label"/>
          <p:cNvSpPr txBox="1"/>
          <p:nvPr/>
        </p:nvSpPr>
        <p:spPr>
          <a:xfrm>
            <a:off x="10497312" y="1828800"/>
            <a:ext cx="1207008" cy="237744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CloudWatch</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9 log groups · 5xx alarm</a:t>
            </a:r>
            <a:endParaRPr lang="en-US" sz="1600" dirty="0"/>
          </a:p>
        </p:txBody>
      </p:sp>
      <p:sp>
        <p:nvSpPr>
          <p:cNvPr id="38" name="ECR box"/>
          <p:cNvSpPr/>
          <p:nvPr/>
        </p:nvSpPr>
        <p:spPr>
          <a:xfrm>
            <a:off x="10332720" y="4663440"/>
            <a:ext cx="1463040" cy="960120"/>
          </a:xfrm>
          <a:prstGeom prst="rect">
            <a:avLst/>
          </a:prstGeom>
          <a:solidFill>
            <a:srgbClr val="FFFFFF"/>
          </a:solidFill>
          <a:ln w="12700">
            <a:solidFill>
              <a:srgbClr val="C9D0CB"/>
            </a:solidFill>
            <a:prstDash val="solid"/>
          </a:ln>
        </p:spPr>
      </p:sp>
      <p:sp>
        <p:nvSpPr>
          <p:cNvPr id="39" name="ECR label"/>
          <p:cNvSpPr txBox="1"/>
          <p:nvPr/>
        </p:nvSpPr>
        <p:spPr>
          <a:xfrm>
            <a:off x="10497312" y="4663440"/>
            <a:ext cx="1207008" cy="960120"/>
          </a:xfrm>
          <a:prstGeom prst="rect">
            <a:avLst/>
          </a:prstGeom>
          <a:noFill/>
          <a:ln/>
        </p:spPr>
        <p:txBody>
          <a:bodyPr wrap="square" lIns="0" tIns="0" rIns="0" bIns="0"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ECR</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OCR image</a:t>
            </a:r>
            <a:endParaRPr lang="en-US" sz="1600" dirty="0"/>
          </a:p>
        </p:txBody>
      </p:sp>
      <p:sp>
        <p:nvSpPr>
          <p:cNvPr id="40" name="CloudFront planned box"/>
          <p:cNvSpPr/>
          <p:nvPr/>
        </p:nvSpPr>
        <p:spPr>
          <a:xfrm>
            <a:off x="868680" y="4663440"/>
            <a:ext cx="1965960" cy="960120"/>
          </a:xfrm>
          <a:prstGeom prst="rect">
            <a:avLst/>
          </a:prstGeom>
          <a:solidFill>
            <a:srgbClr val="F3F5F4"/>
          </a:solidFill>
          <a:ln w="12700">
            <a:solidFill>
              <a:srgbClr val="9AA5A0"/>
            </a:solidFill>
            <a:prstDash val="dash"/>
          </a:ln>
        </p:spPr>
      </p:sp>
      <p:sp>
        <p:nvSpPr>
          <p:cNvPr id="41" name="CloudFront planned label"/>
          <p:cNvSpPr txBox="1"/>
          <p:nvPr/>
        </p:nvSpPr>
        <p:spPr>
          <a:xfrm>
            <a:off x="1033272" y="4663440"/>
            <a:ext cx="1709928" cy="960120"/>
          </a:xfrm>
          <a:prstGeom prst="rect">
            <a:avLst/>
          </a:prstGeom>
          <a:noFill/>
          <a:ln/>
        </p:spPr>
        <p:txBody>
          <a:bodyPr wrap="square" lIns="0" tIns="0" rIns="0" bIns="0" rtlCol="0" anchor="ctr"/>
          <a:lstStyle/>
          <a:p>
            <a:pPr marL="0" indent="0">
              <a:buNone/>
            </a:pPr>
            <a:r>
              <a:rPr lang="en-US" sz="1500" b="1" dirty="0">
                <a:solidFill>
                  <a:srgbClr val="5B6560"/>
                </a:solidFill>
                <a:latin typeface="Calibri" pitchFamily="34" charset="0"/>
                <a:ea typeface="Calibri" pitchFamily="34" charset="-122"/>
                <a:cs typeface="Calibri" pitchFamily="34" charset="-120"/>
              </a:rPr>
              <a:t>CloudFront + web bucket</a:t>
            </a:r>
            <a:endParaRPr lang="en-US" sz="1600" dirty="0"/>
          </a:p>
          <a:p>
            <a:pPr marL="0" indent="0">
              <a:buNone/>
            </a:pPr>
            <a:r>
              <a:rPr lang="en-US" sz="1300" dirty="0">
                <a:solidFill>
                  <a:srgbClr val="5B6560"/>
                </a:solidFill>
                <a:latin typeface="Calibri" pitchFamily="34" charset="0"/>
                <a:ea typeface="Calibri" pitchFamily="34" charset="-122"/>
                <a:cs typeface="Calibri" pitchFamily="34" charset="-120"/>
              </a:rPr>
              <a:t>planned · not deployed</a:t>
            </a:r>
            <a:endParaRPr lang="en-US" sz="1600" dirty="0"/>
          </a:p>
        </p:txBody>
      </p:sp>
      <p:sp>
        <p:nvSpPr>
          <p:cNvPr id="42" name="Browser to API Gateway"/>
          <p:cNvSpPr/>
          <p:nvPr/>
        </p:nvSpPr>
        <p:spPr>
          <a:xfrm>
            <a:off x="2651760" y="3721608"/>
            <a:ext cx="411480" cy="0"/>
          </a:xfrm>
          <a:prstGeom prst="line">
            <a:avLst/>
          </a:prstGeom>
          <a:noFill/>
          <a:ln w="19050">
            <a:solidFill>
              <a:srgbClr val="047857"/>
            </a:solidFill>
            <a:prstDash val="solid"/>
            <a:tailEnd type="triangle"/>
          </a:ln>
        </p:spPr>
      </p:sp>
      <p:sp>
        <p:nvSpPr>
          <p:cNvPr id="43" name="Gateway to WebFunction"/>
          <p:cNvSpPr/>
          <p:nvPr/>
        </p:nvSpPr>
        <p:spPr>
          <a:xfrm>
            <a:off x="5120640" y="2304288"/>
            <a:ext cx="411480" cy="0"/>
          </a:xfrm>
          <a:prstGeom prst="line">
            <a:avLst/>
          </a:prstGeom>
          <a:noFill/>
          <a:ln w="19050">
            <a:solidFill>
              <a:srgbClr val="047857"/>
            </a:solidFill>
            <a:prstDash val="solid"/>
            <a:tailEnd type="triangle"/>
          </a:ln>
        </p:spPr>
      </p:sp>
      <p:sp>
        <p:nvSpPr>
          <p:cNvPr id="44" name="Gateway to API functions"/>
          <p:cNvSpPr/>
          <p:nvPr/>
        </p:nvSpPr>
        <p:spPr>
          <a:xfrm>
            <a:off x="5120640" y="3721608"/>
            <a:ext cx="411480" cy="0"/>
          </a:xfrm>
          <a:prstGeom prst="line">
            <a:avLst/>
          </a:prstGeom>
          <a:noFill/>
          <a:ln w="19050">
            <a:solidFill>
              <a:srgbClr val="047857"/>
            </a:solidFill>
            <a:prstDash val="solid"/>
            <a:tailEnd type="triangle"/>
          </a:ln>
        </p:spPr>
      </p:sp>
      <p:sp>
        <p:nvSpPr>
          <p:cNvPr id="45" name="Gateway to Receipts function"/>
          <p:cNvSpPr/>
          <p:nvPr/>
        </p:nvSpPr>
        <p:spPr>
          <a:xfrm>
            <a:off x="5120640" y="5138928"/>
            <a:ext cx="411480" cy="0"/>
          </a:xfrm>
          <a:prstGeom prst="line">
            <a:avLst/>
          </a:prstGeom>
          <a:noFill/>
          <a:ln w="19050">
            <a:solidFill>
              <a:srgbClr val="047857"/>
            </a:solidFill>
            <a:prstDash val="solid"/>
            <a:tailEnd type="triangle"/>
          </a:ln>
        </p:spPr>
      </p:sp>
      <p:sp>
        <p:nvSpPr>
          <p:cNvPr id="46" name="API functions to DynamoDB"/>
          <p:cNvSpPr/>
          <p:nvPr/>
        </p:nvSpPr>
        <p:spPr>
          <a:xfrm>
            <a:off x="7863840" y="3721608"/>
            <a:ext cx="411480" cy="0"/>
          </a:xfrm>
          <a:prstGeom prst="line">
            <a:avLst/>
          </a:prstGeom>
          <a:noFill/>
          <a:ln w="19050">
            <a:solidFill>
              <a:srgbClr val="047857"/>
            </a:solidFill>
            <a:prstDash val="solid"/>
            <a:tailEnd type="triangle"/>
          </a:ln>
        </p:spPr>
      </p:sp>
      <p:sp>
        <p:nvSpPr>
          <p:cNvPr id="47" name="Receipts to S3"/>
          <p:cNvSpPr/>
          <p:nvPr/>
        </p:nvSpPr>
        <p:spPr>
          <a:xfrm>
            <a:off x="7863840" y="5138928"/>
            <a:ext cx="411480" cy="0"/>
          </a:xfrm>
          <a:prstGeom prst="line">
            <a:avLst/>
          </a:prstGeom>
          <a:noFill/>
          <a:ln w="19050">
            <a:solidFill>
              <a:srgbClr val="047857"/>
            </a:solidFill>
            <a:prstDash val="solid"/>
            <a:tailEnd type="triangle"/>
          </a:ln>
        </p:spPr>
      </p:sp>
      <p:sp>
        <p:nvSpPr>
          <p:cNvPr id="48" name="API functions to Cognito (JWKS, GetUser)"/>
          <p:cNvSpPr/>
          <p:nvPr/>
        </p:nvSpPr>
        <p:spPr>
          <a:xfrm flipV="1">
            <a:off x="7863840" y="2331720"/>
            <a:ext cx="411480" cy="1097280"/>
          </a:xfrm>
          <a:prstGeom prst="line">
            <a:avLst/>
          </a:prstGeom>
          <a:noFill/>
          <a:ln w="19050">
            <a:solidFill>
              <a:srgbClr val="7B847E"/>
            </a:solidFill>
            <a:prstDash val="dash"/>
            <a:tailEnd type="triangle"/>
          </a:ln>
        </p:spPr>
      </p:sp>
      <p:sp>
        <p:nvSpPr>
          <p:cNvPr id="49" name="ECR image to Receipts"/>
          <p:cNvSpPr/>
          <p:nvPr/>
        </p:nvSpPr>
        <p:spPr>
          <a:xfrm flipH="1">
            <a:off x="10104120" y="5138928"/>
            <a:ext cx="228600" cy="0"/>
          </a:xfrm>
          <a:prstGeom prst="line">
            <a:avLst/>
          </a:prstGeom>
          <a:noFill/>
          <a:ln w="19050">
            <a:solidFill>
              <a:srgbClr val="7B847E"/>
            </a:solidFill>
            <a:prstDash val="dash"/>
            <a:tailEnd type="triangle"/>
          </a:ln>
        </p:spPr>
      </p:sp>
      <p:sp>
        <p:nvSpPr>
          <p:cNvPr id="50" name="Architecture notes"/>
          <p:cNvSpPr txBox="1"/>
          <p:nvPr/>
        </p:nvSpPr>
        <p:spPr>
          <a:xfrm>
            <a:off x="868680" y="5897880"/>
            <a:ext cx="10927080" cy="566928"/>
          </a:xfrm>
          <a:prstGeom prst="rect">
            <a:avLst/>
          </a:prstGeom>
          <a:noFill/>
          <a:ln/>
        </p:spPr>
        <p:txBody>
          <a:bodyPr wrap="square" lIns="0" tIns="0" rIns="0" bIns="0" rtlCol="0" anchor="t"/>
          <a:lstStyle/>
          <a:p>
            <a:pPr marL="0" indent="0">
              <a:buNone/>
            </a:pPr>
            <a:r>
              <a:rPr lang="en-US" sz="1400" dirty="0">
                <a:solidFill>
                  <a:srgbClr val="5B6560"/>
                </a:solidFill>
                <a:latin typeface="Calibri" pitchFamily="34" charset="0"/>
                <a:ea typeface="Calibri" pitchFamily="34" charset="-122"/>
                <a:cs typeface="Calibri" pitchFamily="34" charset="-120"/>
              </a:rPr>
              <a:t>One origin for the SPA and /api/v1 (no CORS) · browser uploads receipts straight to S3 with presigned URLs · one IAM role per function · no VPC, NAT, EC2 or RDS</a:t>
            </a:r>
            <a:endParaRPr lang="en-US" sz="1400" dirty="0"/>
          </a:p>
        </p:txBody>
      </p:sp>
      <p:sp>
        <p:nvSpPr>
          <p:cNvPr id="51"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CORE MODULES AND WORKFLOW</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ONE USER JOURNEY · ONE LAYERED CODEBASE</a:t>
            </a:r>
            <a:endParaRPr lang="en-US" sz="1200" dirty="0"/>
          </a:p>
        </p:txBody>
      </p:sp>
      <p:sp>
        <p:nvSpPr>
          <p:cNvPr id="4" name="Step 1 circle"/>
          <p:cNvSpPr/>
          <p:nvPr/>
        </p:nvSpPr>
        <p:spPr>
          <a:xfrm>
            <a:off x="868680" y="1783080"/>
            <a:ext cx="566928" cy="566928"/>
          </a:xfrm>
          <a:prstGeom prst="ellipse">
            <a:avLst/>
          </a:prstGeom>
          <a:solidFill>
            <a:srgbClr val="16191F"/>
          </a:solidFill>
          <a:ln/>
        </p:spPr>
      </p:sp>
      <p:sp>
        <p:nvSpPr>
          <p:cNvPr id="5" name="Step 1 number"/>
          <p:cNvSpPr txBox="1"/>
          <p:nvPr/>
        </p:nvSpPr>
        <p:spPr>
          <a:xfrm>
            <a:off x="8686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1</a:t>
            </a:r>
            <a:endParaRPr lang="en-US" sz="2000" dirty="0"/>
          </a:p>
        </p:txBody>
      </p:sp>
      <p:sp>
        <p:nvSpPr>
          <p:cNvPr id="6" name="Step 1 to 2"/>
          <p:cNvSpPr/>
          <p:nvPr/>
        </p:nvSpPr>
        <p:spPr>
          <a:xfrm>
            <a:off x="1527048" y="2066544"/>
            <a:ext cx="1078992" cy="0"/>
          </a:xfrm>
          <a:prstGeom prst="line">
            <a:avLst/>
          </a:prstGeom>
          <a:noFill/>
          <a:ln w="19050">
            <a:solidFill>
              <a:srgbClr val="047857"/>
            </a:solidFill>
            <a:prstDash val="solid"/>
            <a:tailEnd type="triangle"/>
          </a:ln>
        </p:spPr>
      </p:sp>
      <p:sp>
        <p:nvSpPr>
          <p:cNvPr id="7" name="Step 1 title"/>
          <p:cNvSpPr txBox="1"/>
          <p:nvPr/>
        </p:nvSpPr>
        <p:spPr>
          <a:xfrm>
            <a:off x="8686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Sign in</a:t>
            </a:r>
            <a:endParaRPr lang="en-US" sz="1800" dirty="0"/>
          </a:p>
        </p:txBody>
      </p:sp>
      <p:sp>
        <p:nvSpPr>
          <p:cNvPr id="8" name="Step 1 text"/>
          <p:cNvSpPr txBox="1"/>
          <p:nvPr/>
        </p:nvSpPr>
        <p:spPr>
          <a:xfrm>
            <a:off x="8686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Cognito tokens</a:t>
            </a:r>
            <a:endParaRPr lang="en-US" sz="1500" dirty="0"/>
          </a:p>
        </p:txBody>
      </p:sp>
      <p:sp>
        <p:nvSpPr>
          <p:cNvPr id="9" name="Step 2 circle"/>
          <p:cNvSpPr/>
          <p:nvPr/>
        </p:nvSpPr>
        <p:spPr>
          <a:xfrm>
            <a:off x="2697480" y="1783080"/>
            <a:ext cx="566928" cy="566928"/>
          </a:xfrm>
          <a:prstGeom prst="ellipse">
            <a:avLst/>
          </a:prstGeom>
          <a:solidFill>
            <a:srgbClr val="16191F"/>
          </a:solidFill>
          <a:ln/>
        </p:spPr>
      </p:sp>
      <p:sp>
        <p:nvSpPr>
          <p:cNvPr id="10" name="Step 2 number"/>
          <p:cNvSpPr txBox="1"/>
          <p:nvPr/>
        </p:nvSpPr>
        <p:spPr>
          <a:xfrm>
            <a:off x="26974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2</a:t>
            </a:r>
            <a:endParaRPr lang="en-US" sz="2000" dirty="0"/>
          </a:p>
        </p:txBody>
      </p:sp>
      <p:sp>
        <p:nvSpPr>
          <p:cNvPr id="11" name="Step 2 to 3"/>
          <p:cNvSpPr/>
          <p:nvPr/>
        </p:nvSpPr>
        <p:spPr>
          <a:xfrm>
            <a:off x="3355848" y="2066544"/>
            <a:ext cx="1078992" cy="0"/>
          </a:xfrm>
          <a:prstGeom prst="line">
            <a:avLst/>
          </a:prstGeom>
          <a:noFill/>
          <a:ln w="19050">
            <a:solidFill>
              <a:srgbClr val="047857"/>
            </a:solidFill>
            <a:prstDash val="solid"/>
            <a:tailEnd type="triangle"/>
          </a:ln>
        </p:spPr>
      </p:sp>
      <p:sp>
        <p:nvSpPr>
          <p:cNvPr id="12" name="Step 2 title"/>
          <p:cNvSpPr txBox="1"/>
          <p:nvPr/>
        </p:nvSpPr>
        <p:spPr>
          <a:xfrm>
            <a:off x="26974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Record</a:t>
            </a:r>
            <a:endParaRPr lang="en-US" sz="1800" dirty="0"/>
          </a:p>
        </p:txBody>
      </p:sp>
      <p:sp>
        <p:nvSpPr>
          <p:cNvPr id="13" name="Step 2 text"/>
          <p:cNvSpPr txBox="1"/>
          <p:nvPr/>
        </p:nvSpPr>
        <p:spPr>
          <a:xfrm>
            <a:off x="26974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form or receipt</a:t>
            </a:r>
            <a:endParaRPr lang="en-US" sz="1500" dirty="0"/>
          </a:p>
        </p:txBody>
      </p:sp>
      <p:sp>
        <p:nvSpPr>
          <p:cNvPr id="14" name="Step 3 circle"/>
          <p:cNvSpPr/>
          <p:nvPr/>
        </p:nvSpPr>
        <p:spPr>
          <a:xfrm>
            <a:off x="4526280" y="1783080"/>
            <a:ext cx="566928" cy="566928"/>
          </a:xfrm>
          <a:prstGeom prst="ellipse">
            <a:avLst/>
          </a:prstGeom>
          <a:solidFill>
            <a:srgbClr val="16191F"/>
          </a:solidFill>
          <a:ln/>
        </p:spPr>
      </p:sp>
      <p:sp>
        <p:nvSpPr>
          <p:cNvPr id="15" name="Step 3 number"/>
          <p:cNvSpPr txBox="1"/>
          <p:nvPr/>
        </p:nvSpPr>
        <p:spPr>
          <a:xfrm>
            <a:off x="45262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3</a:t>
            </a:r>
            <a:endParaRPr lang="en-US" sz="2000" dirty="0"/>
          </a:p>
        </p:txBody>
      </p:sp>
      <p:sp>
        <p:nvSpPr>
          <p:cNvPr id="16" name="Step 3 to 4"/>
          <p:cNvSpPr/>
          <p:nvPr/>
        </p:nvSpPr>
        <p:spPr>
          <a:xfrm>
            <a:off x="5184648" y="2066544"/>
            <a:ext cx="1078992" cy="0"/>
          </a:xfrm>
          <a:prstGeom prst="line">
            <a:avLst/>
          </a:prstGeom>
          <a:noFill/>
          <a:ln w="19050">
            <a:solidFill>
              <a:srgbClr val="047857"/>
            </a:solidFill>
            <a:prstDash val="solid"/>
            <a:tailEnd type="triangle"/>
          </a:ln>
        </p:spPr>
      </p:sp>
      <p:sp>
        <p:nvSpPr>
          <p:cNvPr id="17" name="Step 3 title"/>
          <p:cNvSpPr txBox="1"/>
          <p:nvPr/>
        </p:nvSpPr>
        <p:spPr>
          <a:xfrm>
            <a:off x="45262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Check</a:t>
            </a:r>
            <a:endParaRPr lang="en-US" sz="1800" dirty="0"/>
          </a:p>
        </p:txBody>
      </p:sp>
      <p:sp>
        <p:nvSpPr>
          <p:cNvPr id="18" name="Step 3 text"/>
          <p:cNvSpPr txBox="1"/>
          <p:nvPr/>
        </p:nvSpPr>
        <p:spPr>
          <a:xfrm>
            <a:off x="45262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budget alerts, anomaly scan</a:t>
            </a:r>
            <a:endParaRPr lang="en-US" sz="1500" dirty="0"/>
          </a:p>
        </p:txBody>
      </p:sp>
      <p:sp>
        <p:nvSpPr>
          <p:cNvPr id="19" name="Step 4 circle"/>
          <p:cNvSpPr/>
          <p:nvPr/>
        </p:nvSpPr>
        <p:spPr>
          <a:xfrm>
            <a:off x="6355080" y="1783080"/>
            <a:ext cx="566928" cy="566928"/>
          </a:xfrm>
          <a:prstGeom prst="ellipse">
            <a:avLst/>
          </a:prstGeom>
          <a:solidFill>
            <a:srgbClr val="16191F"/>
          </a:solidFill>
          <a:ln/>
        </p:spPr>
      </p:sp>
      <p:sp>
        <p:nvSpPr>
          <p:cNvPr id="20" name="Step 4 number"/>
          <p:cNvSpPr txBox="1"/>
          <p:nvPr/>
        </p:nvSpPr>
        <p:spPr>
          <a:xfrm>
            <a:off x="63550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4</a:t>
            </a:r>
            <a:endParaRPr lang="en-US" sz="2000" dirty="0"/>
          </a:p>
        </p:txBody>
      </p:sp>
      <p:sp>
        <p:nvSpPr>
          <p:cNvPr id="21" name="Step 4 to 5"/>
          <p:cNvSpPr/>
          <p:nvPr/>
        </p:nvSpPr>
        <p:spPr>
          <a:xfrm>
            <a:off x="7013448" y="2066544"/>
            <a:ext cx="1078992" cy="0"/>
          </a:xfrm>
          <a:prstGeom prst="line">
            <a:avLst/>
          </a:prstGeom>
          <a:noFill/>
          <a:ln w="19050">
            <a:solidFill>
              <a:srgbClr val="047857"/>
            </a:solidFill>
            <a:prstDash val="solid"/>
            <a:tailEnd type="triangle"/>
          </a:ln>
        </p:spPr>
      </p:sp>
      <p:sp>
        <p:nvSpPr>
          <p:cNvPr id="22" name="Step 4 title"/>
          <p:cNvSpPr txBox="1"/>
          <p:nvPr/>
        </p:nvSpPr>
        <p:spPr>
          <a:xfrm>
            <a:off x="63550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Understand</a:t>
            </a:r>
            <a:endParaRPr lang="en-US" sz="1800" dirty="0"/>
          </a:p>
        </p:txBody>
      </p:sp>
      <p:sp>
        <p:nvSpPr>
          <p:cNvPr id="23" name="Step 4 text"/>
          <p:cNvSpPr txBox="1"/>
          <p:nvPr/>
        </p:nvSpPr>
        <p:spPr>
          <a:xfrm>
            <a:off x="63550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dashboard, analytics, insights</a:t>
            </a:r>
            <a:endParaRPr lang="en-US" sz="1500" dirty="0"/>
          </a:p>
        </p:txBody>
      </p:sp>
      <p:sp>
        <p:nvSpPr>
          <p:cNvPr id="24" name="Step 5 circle"/>
          <p:cNvSpPr/>
          <p:nvPr/>
        </p:nvSpPr>
        <p:spPr>
          <a:xfrm>
            <a:off x="8183880" y="1783080"/>
            <a:ext cx="566928" cy="566928"/>
          </a:xfrm>
          <a:prstGeom prst="ellipse">
            <a:avLst/>
          </a:prstGeom>
          <a:solidFill>
            <a:srgbClr val="16191F"/>
          </a:solidFill>
          <a:ln/>
        </p:spPr>
      </p:sp>
      <p:sp>
        <p:nvSpPr>
          <p:cNvPr id="25" name="Step 5 number"/>
          <p:cNvSpPr txBox="1"/>
          <p:nvPr/>
        </p:nvSpPr>
        <p:spPr>
          <a:xfrm>
            <a:off x="81838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5</a:t>
            </a:r>
            <a:endParaRPr lang="en-US" sz="2000" dirty="0"/>
          </a:p>
        </p:txBody>
      </p:sp>
      <p:sp>
        <p:nvSpPr>
          <p:cNvPr id="26" name="Step 5 to 6"/>
          <p:cNvSpPr/>
          <p:nvPr/>
        </p:nvSpPr>
        <p:spPr>
          <a:xfrm>
            <a:off x="8842248" y="2066544"/>
            <a:ext cx="1078992" cy="0"/>
          </a:xfrm>
          <a:prstGeom prst="line">
            <a:avLst/>
          </a:prstGeom>
          <a:noFill/>
          <a:ln w="19050">
            <a:solidFill>
              <a:srgbClr val="047857"/>
            </a:solidFill>
            <a:prstDash val="solid"/>
            <a:tailEnd type="triangle"/>
          </a:ln>
        </p:spPr>
      </p:sp>
      <p:sp>
        <p:nvSpPr>
          <p:cNvPr id="27" name="Step 5 title"/>
          <p:cNvSpPr txBox="1"/>
          <p:nvPr/>
        </p:nvSpPr>
        <p:spPr>
          <a:xfrm>
            <a:off x="81838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Plan</a:t>
            </a:r>
            <a:endParaRPr lang="en-US" sz="1800" dirty="0"/>
          </a:p>
        </p:txBody>
      </p:sp>
      <p:sp>
        <p:nvSpPr>
          <p:cNvPr id="28" name="Step 5 text"/>
          <p:cNvSpPr txBox="1"/>
          <p:nvPr/>
        </p:nvSpPr>
        <p:spPr>
          <a:xfrm>
            <a:off x="81838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goals, What-If</a:t>
            </a:r>
            <a:endParaRPr lang="en-US" sz="1500" dirty="0"/>
          </a:p>
        </p:txBody>
      </p:sp>
      <p:sp>
        <p:nvSpPr>
          <p:cNvPr id="29" name="Step 6 circle"/>
          <p:cNvSpPr/>
          <p:nvPr/>
        </p:nvSpPr>
        <p:spPr>
          <a:xfrm>
            <a:off x="10012680" y="1783080"/>
            <a:ext cx="566928" cy="566928"/>
          </a:xfrm>
          <a:prstGeom prst="ellipse">
            <a:avLst/>
          </a:prstGeom>
          <a:solidFill>
            <a:srgbClr val="16191F"/>
          </a:solidFill>
          <a:ln/>
        </p:spPr>
      </p:sp>
      <p:sp>
        <p:nvSpPr>
          <p:cNvPr id="30" name="Step 6 number"/>
          <p:cNvSpPr txBox="1"/>
          <p:nvPr/>
        </p:nvSpPr>
        <p:spPr>
          <a:xfrm>
            <a:off x="10012680" y="1783080"/>
            <a:ext cx="566928"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6</a:t>
            </a:r>
            <a:endParaRPr lang="en-US" sz="2000" dirty="0"/>
          </a:p>
        </p:txBody>
      </p:sp>
      <p:sp>
        <p:nvSpPr>
          <p:cNvPr id="31" name="Step 6 title"/>
          <p:cNvSpPr txBox="1"/>
          <p:nvPr/>
        </p:nvSpPr>
        <p:spPr>
          <a:xfrm>
            <a:off x="10012680" y="2514600"/>
            <a:ext cx="1691640" cy="347472"/>
          </a:xfrm>
          <a:prstGeom prst="rect">
            <a:avLst/>
          </a:prstGeom>
          <a:noFill/>
          <a:ln/>
        </p:spPr>
        <p:txBody>
          <a:bodyPr wrap="square" lIns="0" tIns="0" rIns="0" bIns="0" rtlCol="0" anchor="t"/>
          <a:lstStyle/>
          <a:p>
            <a:pPr marL="0" indent="0">
              <a:buNone/>
            </a:pPr>
            <a:r>
              <a:rPr lang="en-US" sz="1800" b="1" dirty="0">
                <a:solidFill>
                  <a:srgbClr val="16191F"/>
                </a:solidFill>
                <a:latin typeface="Calibri" pitchFamily="34" charset="0"/>
                <a:ea typeface="Calibri" pitchFamily="34" charset="-122"/>
                <a:cs typeface="Calibri" pitchFamily="34" charset="-120"/>
              </a:rPr>
              <a:t>Ask</a:t>
            </a:r>
            <a:endParaRPr lang="en-US" sz="1800" dirty="0"/>
          </a:p>
        </p:txBody>
      </p:sp>
      <p:sp>
        <p:nvSpPr>
          <p:cNvPr id="32" name="Step 6 text"/>
          <p:cNvSpPr txBox="1"/>
          <p:nvPr/>
        </p:nvSpPr>
        <p:spPr>
          <a:xfrm>
            <a:off x="10012680" y="2862072"/>
            <a:ext cx="1691640" cy="5943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rule-based assistant</a:t>
            </a:r>
            <a:endParaRPr lang="en-US" sz="1500" dirty="0"/>
          </a:p>
        </p:txBody>
      </p:sp>
      <p:sp>
        <p:nvSpPr>
          <p:cNvPr id="33" name="API routes layer"/>
          <p:cNvSpPr/>
          <p:nvPr/>
        </p:nvSpPr>
        <p:spPr>
          <a:xfrm>
            <a:off x="868680" y="3794760"/>
            <a:ext cx="3383280" cy="1234440"/>
          </a:xfrm>
          <a:prstGeom prst="rect">
            <a:avLst/>
          </a:prstGeom>
          <a:solidFill>
            <a:srgbClr val="FFFFFF"/>
          </a:solidFill>
          <a:ln w="9525">
            <a:solidFill>
              <a:srgbClr val="C9D0CB"/>
            </a:solidFill>
            <a:prstDash val="solid"/>
          </a:ln>
        </p:spPr>
      </p:sp>
      <p:sp>
        <p:nvSpPr>
          <p:cNvPr id="34" name="API routes title"/>
          <p:cNvSpPr txBox="1"/>
          <p:nvPr/>
        </p:nvSpPr>
        <p:spPr>
          <a:xfrm>
            <a:off x="1097280" y="3913632"/>
            <a:ext cx="301752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API routes</a:t>
            </a:r>
            <a:endParaRPr lang="en-US" sz="1900" dirty="0"/>
          </a:p>
        </p:txBody>
      </p:sp>
      <p:sp>
        <p:nvSpPr>
          <p:cNvPr id="35" name="API routes text"/>
          <p:cNvSpPr txBox="1"/>
          <p:nvPr/>
        </p:nvSpPr>
        <p:spPr>
          <a:xfrm>
            <a:off x="1097280" y="4297680"/>
            <a:ext cx="3017520" cy="658368"/>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9 route groups · token → user id · strict validation</a:t>
            </a:r>
            <a:endParaRPr lang="en-US" sz="1500" dirty="0"/>
          </a:p>
        </p:txBody>
      </p:sp>
      <p:sp>
        <p:nvSpPr>
          <p:cNvPr id="36" name="API routes to next layer"/>
          <p:cNvSpPr/>
          <p:nvPr/>
        </p:nvSpPr>
        <p:spPr>
          <a:xfrm>
            <a:off x="4270248" y="4407408"/>
            <a:ext cx="283464" cy="0"/>
          </a:xfrm>
          <a:prstGeom prst="line">
            <a:avLst/>
          </a:prstGeom>
          <a:noFill/>
          <a:ln w="19050">
            <a:solidFill>
              <a:srgbClr val="047857"/>
            </a:solidFill>
            <a:prstDash val="solid"/>
            <a:tailEnd type="triangle"/>
          </a:ln>
        </p:spPr>
      </p:sp>
      <p:sp>
        <p:nvSpPr>
          <p:cNvPr id="37" name="Services layer"/>
          <p:cNvSpPr/>
          <p:nvPr/>
        </p:nvSpPr>
        <p:spPr>
          <a:xfrm>
            <a:off x="4572000" y="3794760"/>
            <a:ext cx="3383280" cy="1234440"/>
          </a:xfrm>
          <a:prstGeom prst="rect">
            <a:avLst/>
          </a:prstGeom>
          <a:solidFill>
            <a:srgbClr val="16191F"/>
          </a:solidFill>
          <a:ln/>
        </p:spPr>
      </p:sp>
      <p:sp>
        <p:nvSpPr>
          <p:cNvPr id="38" name="Services title"/>
          <p:cNvSpPr txBox="1"/>
          <p:nvPr/>
        </p:nvSpPr>
        <p:spPr>
          <a:xfrm>
            <a:off x="4800600" y="3913632"/>
            <a:ext cx="3017520" cy="365760"/>
          </a:xfrm>
          <a:prstGeom prst="rect">
            <a:avLst/>
          </a:prstGeom>
          <a:noFill/>
          <a:ln/>
        </p:spPr>
        <p:txBody>
          <a:bodyPr wrap="square" lIns="0" tIns="0" rIns="0" bIns="0" rtlCol="0" anchor="t"/>
          <a:lstStyle/>
          <a:p>
            <a:pPr marL="0" indent="0">
              <a:buNone/>
            </a:pPr>
            <a:r>
              <a:rPr lang="en-US" sz="1900" b="1" dirty="0">
                <a:solidFill>
                  <a:srgbClr val="34D399"/>
                </a:solidFill>
                <a:latin typeface="Calibri" pitchFamily="34" charset="0"/>
                <a:ea typeface="Calibri" pitchFamily="34" charset="-122"/>
                <a:cs typeface="Calibri" pitchFamily="34" charset="-120"/>
              </a:rPr>
              <a:t>Services</a:t>
            </a:r>
            <a:endParaRPr lang="en-US" sz="1900" dirty="0"/>
          </a:p>
        </p:txBody>
      </p:sp>
      <p:sp>
        <p:nvSpPr>
          <p:cNvPr id="39" name="Services text"/>
          <p:cNvSpPr txBox="1"/>
          <p:nvPr/>
        </p:nvSpPr>
        <p:spPr>
          <a:xfrm>
            <a:off x="4800600" y="4297680"/>
            <a:ext cx="3017520" cy="658368"/>
          </a:xfrm>
          <a:prstGeom prst="rect">
            <a:avLst/>
          </a:prstGeom>
          <a:noFill/>
          <a:ln/>
        </p:spPr>
        <p:txBody>
          <a:bodyPr wrap="square" lIns="0" tIns="0" rIns="0" bIns="0" rtlCol="0" anchor="t"/>
          <a:lstStyle/>
          <a:p>
            <a:pPr marL="0" indent="0">
              <a:buNone/>
            </a:pPr>
            <a:r>
              <a:rPr lang="en-US" sz="1500" dirty="0">
                <a:solidFill>
                  <a:srgbClr val="D5DBD8"/>
                </a:solidFill>
                <a:latin typeface="Calibri" pitchFamily="34" charset="0"/>
                <a:ea typeface="Calibri" pitchFamily="34" charset="-122"/>
                <a:cs typeface="Calibri" pitchFamily="34" charset="-120"/>
              </a:rPr>
              <a:t>all business logic, independent of HTTP and storage</a:t>
            </a:r>
            <a:endParaRPr lang="en-US" sz="1500" dirty="0"/>
          </a:p>
        </p:txBody>
      </p:sp>
      <p:sp>
        <p:nvSpPr>
          <p:cNvPr id="40" name="Services to next layer"/>
          <p:cNvSpPr/>
          <p:nvPr/>
        </p:nvSpPr>
        <p:spPr>
          <a:xfrm>
            <a:off x="7973568" y="4407408"/>
            <a:ext cx="283464" cy="0"/>
          </a:xfrm>
          <a:prstGeom prst="line">
            <a:avLst/>
          </a:prstGeom>
          <a:noFill/>
          <a:ln w="19050">
            <a:solidFill>
              <a:srgbClr val="047857"/>
            </a:solidFill>
            <a:prstDash val="solid"/>
            <a:tailEnd type="triangle"/>
          </a:ln>
        </p:spPr>
      </p:sp>
      <p:sp>
        <p:nvSpPr>
          <p:cNvPr id="41" name="Repository layer"/>
          <p:cNvSpPr/>
          <p:nvPr/>
        </p:nvSpPr>
        <p:spPr>
          <a:xfrm>
            <a:off x="8275320" y="3794760"/>
            <a:ext cx="3383280" cy="1234440"/>
          </a:xfrm>
          <a:prstGeom prst="rect">
            <a:avLst/>
          </a:prstGeom>
          <a:solidFill>
            <a:srgbClr val="FFFFFF"/>
          </a:solidFill>
          <a:ln w="9525">
            <a:solidFill>
              <a:srgbClr val="C9D0CB"/>
            </a:solidFill>
            <a:prstDash val="solid"/>
          </a:ln>
        </p:spPr>
      </p:sp>
      <p:sp>
        <p:nvSpPr>
          <p:cNvPr id="42" name="Repository title"/>
          <p:cNvSpPr txBox="1"/>
          <p:nvPr/>
        </p:nvSpPr>
        <p:spPr>
          <a:xfrm>
            <a:off x="8503920" y="3913632"/>
            <a:ext cx="3017520" cy="365760"/>
          </a:xfrm>
          <a:prstGeom prst="rect">
            <a:avLst/>
          </a:prstGeom>
          <a:noFill/>
          <a:ln/>
        </p:spPr>
        <p:txBody>
          <a:bodyPr wrap="square" lIns="0" tIns="0" rIns="0" bIns="0" rtlCol="0" anchor="t"/>
          <a:lstStyle/>
          <a:p>
            <a:pPr marL="0" indent="0">
              <a:buNone/>
            </a:pPr>
            <a:r>
              <a:rPr lang="en-US" sz="1900" b="1" dirty="0">
                <a:solidFill>
                  <a:srgbClr val="16191F"/>
                </a:solidFill>
                <a:latin typeface="Calibri" pitchFamily="34" charset="0"/>
                <a:ea typeface="Calibri" pitchFamily="34" charset="-122"/>
                <a:cs typeface="Calibri" pitchFamily="34" charset="-120"/>
              </a:rPr>
              <a:t>Repository</a:t>
            </a:r>
            <a:endParaRPr lang="en-US" sz="1900" dirty="0"/>
          </a:p>
        </p:txBody>
      </p:sp>
      <p:sp>
        <p:nvSpPr>
          <p:cNvPr id="43" name="Repository text"/>
          <p:cNvSpPr txBox="1"/>
          <p:nvPr/>
        </p:nvSpPr>
        <p:spPr>
          <a:xfrm>
            <a:off x="8503920" y="4297680"/>
            <a:ext cx="3017520" cy="658368"/>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SQLite locally · DynamoDB on AWS · same tests</a:t>
            </a:r>
            <a:endParaRPr lang="en-US" sz="1500" dirty="0"/>
          </a:p>
        </p:txBody>
      </p:sp>
      <p:sp>
        <p:nvSpPr>
          <p:cNvPr id="44" name="Modules label"/>
          <p:cNvSpPr txBox="1"/>
          <p:nvPr/>
        </p:nvSpPr>
        <p:spPr>
          <a:xfrm>
            <a:off x="868680" y="5349240"/>
            <a:ext cx="1280160" cy="365760"/>
          </a:xfrm>
          <a:prstGeom prst="rect">
            <a:avLst/>
          </a:prstGeom>
          <a:noFill/>
          <a:ln/>
        </p:spPr>
        <p:txBody>
          <a:bodyPr wrap="square" lIns="0" tIns="0" rIns="0" bIns="0" rtlCol="0" anchor="ctr"/>
          <a:lstStyle/>
          <a:p>
            <a:pPr marL="0" indent="0">
              <a:buNone/>
            </a:pPr>
            <a:r>
              <a:rPr lang="en-US" sz="1500" b="1" dirty="0">
                <a:solidFill>
                  <a:srgbClr val="047857"/>
                </a:solidFill>
                <a:latin typeface="Calibri" pitchFamily="34" charset="0"/>
                <a:ea typeface="Calibri" pitchFamily="34" charset="-122"/>
                <a:cs typeface="Calibri" pitchFamily="34" charset="-120"/>
              </a:rPr>
              <a:t>Modules</a:t>
            </a:r>
            <a:endParaRPr lang="en-US" sz="1500" dirty="0"/>
          </a:p>
        </p:txBody>
      </p:sp>
      <p:sp>
        <p:nvSpPr>
          <p:cNvPr id="45" name="Expenses pill"/>
          <p:cNvSpPr/>
          <p:nvPr/>
        </p:nvSpPr>
        <p:spPr>
          <a:xfrm>
            <a:off x="2011680" y="5349240"/>
            <a:ext cx="1005840" cy="365760"/>
          </a:xfrm>
          <a:prstGeom prst="roundRect">
            <a:avLst>
              <a:gd name="adj" fmla="val 50000"/>
            </a:avLst>
          </a:prstGeom>
          <a:solidFill>
            <a:srgbClr val="E3F4EC"/>
          </a:solidFill>
          <a:ln/>
        </p:spPr>
      </p:sp>
      <p:sp>
        <p:nvSpPr>
          <p:cNvPr id="46" name="Expenses pill text"/>
          <p:cNvSpPr txBox="1"/>
          <p:nvPr/>
        </p:nvSpPr>
        <p:spPr>
          <a:xfrm>
            <a:off x="2011680"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Expenses</a:t>
            </a:r>
            <a:endParaRPr lang="en-US" sz="1300" dirty="0"/>
          </a:p>
        </p:txBody>
      </p:sp>
      <p:sp>
        <p:nvSpPr>
          <p:cNvPr id="47" name="Budgets pill"/>
          <p:cNvSpPr/>
          <p:nvPr/>
        </p:nvSpPr>
        <p:spPr>
          <a:xfrm>
            <a:off x="3099816" y="5349240"/>
            <a:ext cx="1005840" cy="365760"/>
          </a:xfrm>
          <a:prstGeom prst="roundRect">
            <a:avLst>
              <a:gd name="adj" fmla="val 50000"/>
            </a:avLst>
          </a:prstGeom>
          <a:solidFill>
            <a:srgbClr val="E3F4EC"/>
          </a:solidFill>
          <a:ln/>
        </p:spPr>
      </p:sp>
      <p:sp>
        <p:nvSpPr>
          <p:cNvPr id="48" name="Budgets pill text"/>
          <p:cNvSpPr txBox="1"/>
          <p:nvPr/>
        </p:nvSpPr>
        <p:spPr>
          <a:xfrm>
            <a:off x="3099816"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Budgets</a:t>
            </a:r>
            <a:endParaRPr lang="en-US" sz="1300" dirty="0"/>
          </a:p>
        </p:txBody>
      </p:sp>
      <p:sp>
        <p:nvSpPr>
          <p:cNvPr id="49" name="Analytics pill"/>
          <p:cNvSpPr/>
          <p:nvPr/>
        </p:nvSpPr>
        <p:spPr>
          <a:xfrm>
            <a:off x="4187952" y="5349240"/>
            <a:ext cx="1005840" cy="365760"/>
          </a:xfrm>
          <a:prstGeom prst="roundRect">
            <a:avLst>
              <a:gd name="adj" fmla="val 50000"/>
            </a:avLst>
          </a:prstGeom>
          <a:solidFill>
            <a:srgbClr val="E3F4EC"/>
          </a:solidFill>
          <a:ln/>
        </p:spPr>
      </p:sp>
      <p:sp>
        <p:nvSpPr>
          <p:cNvPr id="50" name="Analytics pill text"/>
          <p:cNvSpPr txBox="1"/>
          <p:nvPr/>
        </p:nvSpPr>
        <p:spPr>
          <a:xfrm>
            <a:off x="4187952"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Analytics</a:t>
            </a:r>
            <a:endParaRPr lang="en-US" sz="1300" dirty="0"/>
          </a:p>
        </p:txBody>
      </p:sp>
      <p:sp>
        <p:nvSpPr>
          <p:cNvPr id="51" name="Insights pill"/>
          <p:cNvSpPr/>
          <p:nvPr/>
        </p:nvSpPr>
        <p:spPr>
          <a:xfrm>
            <a:off x="5276088" y="5349240"/>
            <a:ext cx="1005840" cy="365760"/>
          </a:xfrm>
          <a:prstGeom prst="roundRect">
            <a:avLst>
              <a:gd name="adj" fmla="val 50000"/>
            </a:avLst>
          </a:prstGeom>
          <a:solidFill>
            <a:srgbClr val="E3F4EC"/>
          </a:solidFill>
          <a:ln/>
        </p:spPr>
      </p:sp>
      <p:sp>
        <p:nvSpPr>
          <p:cNvPr id="52" name="Insights pill text"/>
          <p:cNvSpPr txBox="1"/>
          <p:nvPr/>
        </p:nvSpPr>
        <p:spPr>
          <a:xfrm>
            <a:off x="5276088"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Insights</a:t>
            </a:r>
            <a:endParaRPr lang="en-US" sz="1300" dirty="0"/>
          </a:p>
        </p:txBody>
      </p:sp>
      <p:sp>
        <p:nvSpPr>
          <p:cNvPr id="53" name="Anomalies pill"/>
          <p:cNvSpPr/>
          <p:nvPr/>
        </p:nvSpPr>
        <p:spPr>
          <a:xfrm>
            <a:off x="6364224" y="5349240"/>
            <a:ext cx="1005840" cy="365760"/>
          </a:xfrm>
          <a:prstGeom prst="roundRect">
            <a:avLst>
              <a:gd name="adj" fmla="val 50000"/>
            </a:avLst>
          </a:prstGeom>
          <a:solidFill>
            <a:srgbClr val="E3F4EC"/>
          </a:solidFill>
          <a:ln/>
        </p:spPr>
      </p:sp>
      <p:sp>
        <p:nvSpPr>
          <p:cNvPr id="54" name="Anomalies pill text"/>
          <p:cNvSpPr txBox="1"/>
          <p:nvPr/>
        </p:nvSpPr>
        <p:spPr>
          <a:xfrm>
            <a:off x="6364224"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Anomalies</a:t>
            </a:r>
            <a:endParaRPr lang="en-US" sz="1300" dirty="0"/>
          </a:p>
        </p:txBody>
      </p:sp>
      <p:sp>
        <p:nvSpPr>
          <p:cNvPr id="55" name="Receipts pill"/>
          <p:cNvSpPr/>
          <p:nvPr/>
        </p:nvSpPr>
        <p:spPr>
          <a:xfrm>
            <a:off x="7452360" y="5349240"/>
            <a:ext cx="1005840" cy="365760"/>
          </a:xfrm>
          <a:prstGeom prst="roundRect">
            <a:avLst>
              <a:gd name="adj" fmla="val 50000"/>
            </a:avLst>
          </a:prstGeom>
          <a:solidFill>
            <a:srgbClr val="E3F4EC"/>
          </a:solidFill>
          <a:ln/>
        </p:spPr>
      </p:sp>
      <p:sp>
        <p:nvSpPr>
          <p:cNvPr id="56" name="Receipts pill text"/>
          <p:cNvSpPr txBox="1"/>
          <p:nvPr/>
        </p:nvSpPr>
        <p:spPr>
          <a:xfrm>
            <a:off x="7452360"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Receipts</a:t>
            </a:r>
            <a:endParaRPr lang="en-US" sz="1300" dirty="0"/>
          </a:p>
        </p:txBody>
      </p:sp>
      <p:sp>
        <p:nvSpPr>
          <p:cNvPr id="57" name="Simulator pill"/>
          <p:cNvSpPr/>
          <p:nvPr/>
        </p:nvSpPr>
        <p:spPr>
          <a:xfrm>
            <a:off x="8540496" y="5349240"/>
            <a:ext cx="1005840" cy="365760"/>
          </a:xfrm>
          <a:prstGeom prst="roundRect">
            <a:avLst>
              <a:gd name="adj" fmla="val 50000"/>
            </a:avLst>
          </a:prstGeom>
          <a:solidFill>
            <a:srgbClr val="E3F4EC"/>
          </a:solidFill>
          <a:ln/>
        </p:spPr>
      </p:sp>
      <p:sp>
        <p:nvSpPr>
          <p:cNvPr id="58" name="Simulator pill text"/>
          <p:cNvSpPr txBox="1"/>
          <p:nvPr/>
        </p:nvSpPr>
        <p:spPr>
          <a:xfrm>
            <a:off x="8540496"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Simulator</a:t>
            </a:r>
            <a:endParaRPr lang="en-US" sz="1300" dirty="0"/>
          </a:p>
        </p:txBody>
      </p:sp>
      <p:sp>
        <p:nvSpPr>
          <p:cNvPr id="59" name="Goals pill"/>
          <p:cNvSpPr/>
          <p:nvPr/>
        </p:nvSpPr>
        <p:spPr>
          <a:xfrm>
            <a:off x="9628632" y="5349240"/>
            <a:ext cx="1005840" cy="365760"/>
          </a:xfrm>
          <a:prstGeom prst="roundRect">
            <a:avLst>
              <a:gd name="adj" fmla="val 50000"/>
            </a:avLst>
          </a:prstGeom>
          <a:solidFill>
            <a:srgbClr val="E3F4EC"/>
          </a:solidFill>
          <a:ln/>
        </p:spPr>
      </p:sp>
      <p:sp>
        <p:nvSpPr>
          <p:cNvPr id="60" name="Goals pill text"/>
          <p:cNvSpPr txBox="1"/>
          <p:nvPr/>
        </p:nvSpPr>
        <p:spPr>
          <a:xfrm>
            <a:off x="9628632"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Goals</a:t>
            </a:r>
            <a:endParaRPr lang="en-US" sz="1300" dirty="0"/>
          </a:p>
        </p:txBody>
      </p:sp>
      <p:sp>
        <p:nvSpPr>
          <p:cNvPr id="61" name="Assistant pill"/>
          <p:cNvSpPr/>
          <p:nvPr/>
        </p:nvSpPr>
        <p:spPr>
          <a:xfrm>
            <a:off x="10716768" y="5349240"/>
            <a:ext cx="1005840" cy="365760"/>
          </a:xfrm>
          <a:prstGeom prst="roundRect">
            <a:avLst>
              <a:gd name="adj" fmla="val 50000"/>
            </a:avLst>
          </a:prstGeom>
          <a:solidFill>
            <a:srgbClr val="E3F4EC"/>
          </a:solidFill>
          <a:ln/>
        </p:spPr>
      </p:sp>
      <p:sp>
        <p:nvSpPr>
          <p:cNvPr id="62" name="Assistant pill text"/>
          <p:cNvSpPr txBox="1"/>
          <p:nvPr/>
        </p:nvSpPr>
        <p:spPr>
          <a:xfrm>
            <a:off x="10716768" y="5349240"/>
            <a:ext cx="1005840" cy="365760"/>
          </a:xfrm>
          <a:prstGeom prst="rect">
            <a:avLst/>
          </a:prstGeom>
          <a:noFill/>
          <a:ln/>
        </p:spPr>
        <p:txBody>
          <a:bodyPr wrap="square" lIns="0" tIns="0" rIns="0" bIns="0" rtlCol="0" anchor="ctr"/>
          <a:lstStyle/>
          <a:p>
            <a:pPr marL="0" indent="0" algn="ctr">
              <a:buNone/>
            </a:pPr>
            <a:r>
              <a:rPr lang="en-US" sz="1300" b="1" dirty="0">
                <a:solidFill>
                  <a:srgbClr val="047857"/>
                </a:solidFill>
                <a:latin typeface="Calibri" pitchFamily="34" charset="0"/>
                <a:ea typeface="Calibri" pitchFamily="34" charset="-122"/>
                <a:cs typeface="Calibri" pitchFamily="34" charset="-120"/>
              </a:rPr>
              <a:t>Assistant</a:t>
            </a:r>
            <a:endParaRPr lang="en-US" sz="1300" dirty="0"/>
          </a:p>
        </p:txBody>
      </p:sp>
      <p:sp>
        <p:nvSpPr>
          <p:cNvPr id="63" name="Layer note"/>
          <p:cNvSpPr txBox="1"/>
          <p:nvPr/>
        </p:nvSpPr>
        <p:spPr>
          <a:xfrm>
            <a:off x="868680" y="5897880"/>
            <a:ext cx="10881360" cy="3657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Each Lambda builds only its own route group, so it receives only the IAM permissions that group needs.</a:t>
            </a:r>
            <a:endParaRPr lang="en-US" sz="1500" dirty="0"/>
          </a:p>
        </p:txBody>
      </p:sp>
      <p:sp>
        <p:nvSpPr>
          <p:cNvPr id="64"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Live financial insights screenshot" descr="C:\Users\Aakar\AppData\Local\Temp\finsight-deck-OB3SKH\insights.png"/>
          <p:cNvPicPr>
            <a:picLocks noChangeAspect="1"/>
          </p:cNvPicPr>
          <p:nvPr/>
        </p:nvPicPr>
        <p:blipFill>
          <a:blip r:embed="rId3"/>
          <a:srcRect/>
          <a:stretch/>
        </p:blipFill>
        <p:spPr>
          <a:xfrm>
            <a:off x="685800" y="822960"/>
            <a:ext cx="6492240" cy="5239512"/>
          </a:xfrm>
          <a:prstGeom prst="rect">
            <a:avLst/>
          </a:prstGeom>
        </p:spPr>
      </p:pic>
      <p:sp>
        <p:nvSpPr>
          <p:cNvPr id="3" name="Text 3"/>
          <p:cNvSpPr>
            <a:spLocks noGrp="1"/>
          </p:cNvSpPr>
          <p:nvPr>
            <p:ph type="title" idx="104" hasCustomPrompt="1"/>
          </p:nvPr>
        </p:nvSpPr>
        <p:spPr>
          <a:xfrm>
            <a:off x="7589520" y="457200"/>
            <a:ext cx="4251960" cy="1051560"/>
          </a:xfrm>
          <a:prstGeom prst="rect">
            <a:avLst/>
          </a:prstGeom>
          <a:noFill/>
          <a:ln/>
        </p:spPr>
        <p:txBody>
          <a:bodyPr wrap="square" lIns="0" tIns="0" rIns="0" bIns="0" rtlCol="0" anchor="t"/>
          <a:lstStyle/>
          <a:p>
            <a:pPr marL="0" indent="0" algn="l">
              <a:buNone/>
            </a:pPr>
            <a:r>
              <a:rPr lang="en-US" sz="2600" kern="0" spc="100" dirty="0">
                <a:solidFill>
                  <a:srgbClr val="16191F"/>
                </a:solidFill>
              </a:rPr>
              <a:t>ANALYTICS AND INTELLIGENCE</a:t>
            </a:r>
            <a:endParaRPr lang="en-US" sz="2600" dirty="0"/>
          </a:p>
        </p:txBody>
      </p:sp>
      <p:sp>
        <p:nvSpPr>
          <p:cNvPr id="4" name="Text 3"/>
          <p:cNvSpPr>
            <a:spLocks noGrp="1"/>
          </p:cNvSpPr>
          <p:nvPr>
            <p:ph type="body" idx="105" hasCustomPrompt="1"/>
          </p:nvPr>
        </p:nvSpPr>
        <p:spPr>
          <a:xfrm>
            <a:off x="7607808" y="1572768"/>
            <a:ext cx="425196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EVERY NUMBER IS EXPLAINED</a:t>
            </a:r>
            <a:endParaRPr lang="en-US" sz="1200" dirty="0"/>
          </a:p>
        </p:txBody>
      </p:sp>
      <p:sp>
        <p:nvSpPr>
          <p:cNvPr id="5" name="Insight engine marker"/>
          <p:cNvSpPr/>
          <p:nvPr/>
        </p:nvSpPr>
        <p:spPr>
          <a:xfrm>
            <a:off x="7589520" y="2121408"/>
            <a:ext cx="384048" cy="384048"/>
          </a:xfrm>
          <a:prstGeom prst="rect">
            <a:avLst/>
          </a:prstGeom>
          <a:solidFill>
            <a:srgbClr val="16191F"/>
          </a:solidFill>
          <a:ln/>
        </p:spPr>
      </p:sp>
      <p:sp>
        <p:nvSpPr>
          <p:cNvPr id="6" name="Insight engine marker text"/>
          <p:cNvSpPr txBox="1"/>
          <p:nvPr/>
        </p:nvSpPr>
        <p:spPr>
          <a:xfrm>
            <a:off x="7589520" y="2121408"/>
            <a:ext cx="384048" cy="384048"/>
          </a:xfrm>
          <a:prstGeom prst="rect">
            <a:avLst/>
          </a:prstGeom>
          <a:noFill/>
          <a:ln/>
        </p:spPr>
        <p:txBody>
          <a:bodyPr wrap="square" lIns="0" tIns="0" rIns="0" bIns="0" rtlCol="0" anchor="ctr"/>
          <a:lstStyle/>
          <a:p>
            <a:pPr marL="0" indent="0" algn="ctr">
              <a:buNone/>
            </a:pPr>
            <a:r>
              <a:rPr lang="en-US" sz="1500" b="1" dirty="0">
                <a:solidFill>
                  <a:srgbClr val="34D399"/>
                </a:solidFill>
                <a:latin typeface="Calibri" pitchFamily="34" charset="0"/>
                <a:ea typeface="Calibri" pitchFamily="34" charset="-122"/>
                <a:cs typeface="Calibri" pitchFamily="34" charset="-120"/>
              </a:rPr>
              <a:t>+</a:t>
            </a:r>
            <a:endParaRPr lang="en-US" sz="1500" dirty="0"/>
          </a:p>
        </p:txBody>
      </p:sp>
      <p:sp>
        <p:nvSpPr>
          <p:cNvPr id="7" name="Insight engine heading"/>
          <p:cNvSpPr txBox="1"/>
          <p:nvPr/>
        </p:nvSpPr>
        <p:spPr>
          <a:xfrm>
            <a:off x="8138160" y="2103120"/>
            <a:ext cx="3703320" cy="384048"/>
          </a:xfrm>
          <a:prstGeom prst="rect">
            <a:avLst/>
          </a:prstGeom>
          <a:noFill/>
          <a:ln/>
        </p:spPr>
        <p:txBody>
          <a:bodyPr wrap="square" lIns="0" tIns="0" rIns="0" bIns="0" rtlCol="0" anchor="ctr"/>
          <a:lstStyle/>
          <a:p>
            <a:pPr marL="0" indent="0">
              <a:buNone/>
            </a:pPr>
            <a:r>
              <a:rPr lang="en-US" sz="1500" b="1" kern="0" spc="200" dirty="0">
                <a:solidFill>
                  <a:srgbClr val="16191F"/>
                </a:solidFill>
                <a:latin typeface="Calibri" pitchFamily="34" charset="0"/>
                <a:ea typeface="Calibri" pitchFamily="34" charset="-122"/>
                <a:cs typeface="Calibri" pitchFamily="34" charset="-120"/>
              </a:rPr>
              <a:t>INSIGHT ENGINE</a:t>
            </a:r>
            <a:endParaRPr lang="en-US" sz="1500" dirty="0"/>
          </a:p>
        </p:txBody>
      </p:sp>
      <p:sp>
        <p:nvSpPr>
          <p:cNvPr id="8" name="Insight engine text"/>
          <p:cNvSpPr txBox="1"/>
          <p:nvPr/>
        </p:nvSpPr>
        <p:spPr>
          <a:xfrm>
            <a:off x="7589520" y="2578608"/>
            <a:ext cx="4251960" cy="960120"/>
          </a:xfrm>
          <a:prstGeom prst="rect">
            <a:avLst/>
          </a:prstGeom>
          <a:noFill/>
          <a:ln/>
        </p:spPr>
        <p:txBody>
          <a:bodyPr wrap="square" lIns="0" tIns="0" rIns="0" bIns="0" rtlCol="0" anchor="t"/>
          <a:lstStyle/>
          <a:p>
            <a:pPr marL="0" indent="0">
              <a:buNone/>
            </a:pPr>
            <a:r>
              <a:rPr lang="en-US" sz="1400" dirty="0">
                <a:solidFill>
                  <a:srgbClr val="5B6560"/>
                </a:solidFill>
                <a:latin typeface="Calibri" pitchFamily="34" charset="0"/>
                <a:ea typeface="Calibri" pitchFamily="34" charset="-122"/>
                <a:cs typeface="Calibri" pitchFamily="34" charset="-120"/>
              </a:rPr>
              <a:t>Each insight is labelled fact, estimate, projection, recommendation or data gap, with its period, formula, values and transactions.</a:t>
            </a:r>
            <a:endParaRPr lang="en-US" sz="1400" dirty="0"/>
          </a:p>
        </p:txBody>
      </p:sp>
      <p:sp>
        <p:nvSpPr>
          <p:cNvPr id="9" name="Anomaly detection marker"/>
          <p:cNvSpPr/>
          <p:nvPr/>
        </p:nvSpPr>
        <p:spPr>
          <a:xfrm>
            <a:off x="7589520" y="3584448"/>
            <a:ext cx="384048" cy="384048"/>
          </a:xfrm>
          <a:prstGeom prst="rect">
            <a:avLst/>
          </a:prstGeom>
          <a:solidFill>
            <a:srgbClr val="16191F"/>
          </a:solidFill>
          <a:ln/>
        </p:spPr>
      </p:sp>
      <p:sp>
        <p:nvSpPr>
          <p:cNvPr id="10" name="Anomaly detection marker text"/>
          <p:cNvSpPr txBox="1"/>
          <p:nvPr/>
        </p:nvSpPr>
        <p:spPr>
          <a:xfrm>
            <a:off x="7589520" y="3584448"/>
            <a:ext cx="384048" cy="384048"/>
          </a:xfrm>
          <a:prstGeom prst="rect">
            <a:avLst/>
          </a:prstGeom>
          <a:noFill/>
          <a:ln/>
        </p:spPr>
        <p:txBody>
          <a:bodyPr wrap="square" lIns="0" tIns="0" rIns="0" bIns="0" rtlCol="0" anchor="ctr"/>
          <a:lstStyle/>
          <a:p>
            <a:pPr marL="0" indent="0" algn="ctr">
              <a:buNone/>
            </a:pPr>
            <a:r>
              <a:rPr lang="en-US" sz="1500" b="1" dirty="0">
                <a:solidFill>
                  <a:srgbClr val="34D399"/>
                </a:solidFill>
                <a:latin typeface="Calibri" pitchFamily="34" charset="0"/>
                <a:ea typeface="Calibri" pitchFamily="34" charset="-122"/>
                <a:cs typeface="Calibri" pitchFamily="34" charset="-120"/>
              </a:rPr>
              <a:t>+</a:t>
            </a:r>
            <a:endParaRPr lang="en-US" sz="1500" dirty="0"/>
          </a:p>
        </p:txBody>
      </p:sp>
      <p:sp>
        <p:nvSpPr>
          <p:cNvPr id="11" name="Anomaly detection heading"/>
          <p:cNvSpPr txBox="1"/>
          <p:nvPr/>
        </p:nvSpPr>
        <p:spPr>
          <a:xfrm>
            <a:off x="8138160" y="3566160"/>
            <a:ext cx="3703320" cy="384048"/>
          </a:xfrm>
          <a:prstGeom prst="rect">
            <a:avLst/>
          </a:prstGeom>
          <a:noFill/>
          <a:ln/>
        </p:spPr>
        <p:txBody>
          <a:bodyPr wrap="square" lIns="0" tIns="0" rIns="0" bIns="0" rtlCol="0" anchor="ctr"/>
          <a:lstStyle/>
          <a:p>
            <a:pPr marL="0" indent="0">
              <a:buNone/>
            </a:pPr>
            <a:r>
              <a:rPr lang="en-US" sz="1500" b="1" kern="0" spc="200" dirty="0">
                <a:solidFill>
                  <a:srgbClr val="16191F"/>
                </a:solidFill>
                <a:latin typeface="Calibri" pitchFamily="34" charset="0"/>
                <a:ea typeface="Calibri" pitchFamily="34" charset="-122"/>
                <a:cs typeface="Calibri" pitchFamily="34" charset="-120"/>
              </a:rPr>
              <a:t>ANOMALY DETECTION</a:t>
            </a:r>
            <a:endParaRPr lang="en-US" sz="1500" dirty="0"/>
          </a:p>
        </p:txBody>
      </p:sp>
      <p:sp>
        <p:nvSpPr>
          <p:cNvPr id="12" name="Anomaly detection text"/>
          <p:cNvSpPr txBox="1"/>
          <p:nvPr/>
        </p:nvSpPr>
        <p:spPr>
          <a:xfrm>
            <a:off x="7589520" y="4041648"/>
            <a:ext cx="4251960" cy="960120"/>
          </a:xfrm>
          <a:prstGeom prst="rect">
            <a:avLst/>
          </a:prstGeom>
          <a:noFill/>
          <a:ln/>
        </p:spPr>
        <p:txBody>
          <a:bodyPr wrap="square" lIns="0" tIns="0" rIns="0" bIns="0" rtlCol="0" anchor="t"/>
          <a:lstStyle/>
          <a:p>
            <a:pPr marL="0" indent="0">
              <a:buNone/>
            </a:pPr>
            <a:r>
              <a:rPr lang="en-US" sz="1400" dirty="0">
                <a:solidFill>
                  <a:srgbClr val="5B6560"/>
                </a:solidFill>
                <a:latin typeface="Calibri" pitchFamily="34" charset="0"/>
                <a:ea typeface="Calibri" pitchFamily="34" charset="-122"/>
                <a:cs typeface="Calibri" pitchFamily="34" charset="-120"/>
              </a:rPr>
              <a:t>Modified z-score 0.6745 · (x − median) / MAD ≥ 3.5 and amount ≥ 2.5 × the category median. Flags are reviewed; data is never changed.</a:t>
            </a:r>
            <a:endParaRPr lang="en-US" sz="1400" dirty="0"/>
          </a:p>
        </p:txBody>
      </p:sp>
      <p:sp>
        <p:nvSpPr>
          <p:cNvPr id="13" name="Budget projection marker"/>
          <p:cNvSpPr/>
          <p:nvPr/>
        </p:nvSpPr>
        <p:spPr>
          <a:xfrm>
            <a:off x="7589520" y="5047488"/>
            <a:ext cx="384048" cy="384048"/>
          </a:xfrm>
          <a:prstGeom prst="rect">
            <a:avLst/>
          </a:prstGeom>
          <a:solidFill>
            <a:srgbClr val="16191F"/>
          </a:solidFill>
          <a:ln/>
        </p:spPr>
      </p:sp>
      <p:sp>
        <p:nvSpPr>
          <p:cNvPr id="14" name="Budget projection marker text"/>
          <p:cNvSpPr txBox="1"/>
          <p:nvPr/>
        </p:nvSpPr>
        <p:spPr>
          <a:xfrm>
            <a:off x="7589520" y="5047488"/>
            <a:ext cx="384048" cy="384048"/>
          </a:xfrm>
          <a:prstGeom prst="rect">
            <a:avLst/>
          </a:prstGeom>
          <a:noFill/>
          <a:ln/>
        </p:spPr>
        <p:txBody>
          <a:bodyPr wrap="square" lIns="0" tIns="0" rIns="0" bIns="0" rtlCol="0" anchor="ctr"/>
          <a:lstStyle/>
          <a:p>
            <a:pPr marL="0" indent="0" algn="ctr">
              <a:buNone/>
            </a:pPr>
            <a:r>
              <a:rPr lang="en-US" sz="1500" b="1" dirty="0">
                <a:solidFill>
                  <a:srgbClr val="34D399"/>
                </a:solidFill>
                <a:latin typeface="Calibri" pitchFamily="34" charset="0"/>
                <a:ea typeface="Calibri" pitchFamily="34" charset="-122"/>
                <a:cs typeface="Calibri" pitchFamily="34" charset="-120"/>
              </a:rPr>
              <a:t>+</a:t>
            </a:r>
            <a:endParaRPr lang="en-US" sz="1500" dirty="0"/>
          </a:p>
        </p:txBody>
      </p:sp>
      <p:sp>
        <p:nvSpPr>
          <p:cNvPr id="15" name="Budget projection heading"/>
          <p:cNvSpPr txBox="1"/>
          <p:nvPr/>
        </p:nvSpPr>
        <p:spPr>
          <a:xfrm>
            <a:off x="8138160" y="5029200"/>
            <a:ext cx="3703320" cy="384048"/>
          </a:xfrm>
          <a:prstGeom prst="rect">
            <a:avLst/>
          </a:prstGeom>
          <a:noFill/>
          <a:ln/>
        </p:spPr>
        <p:txBody>
          <a:bodyPr wrap="square" lIns="0" tIns="0" rIns="0" bIns="0" rtlCol="0" anchor="ctr"/>
          <a:lstStyle/>
          <a:p>
            <a:pPr marL="0" indent="0">
              <a:buNone/>
            </a:pPr>
            <a:r>
              <a:rPr lang="en-US" sz="1500" b="1" kern="0" spc="200" dirty="0">
                <a:solidFill>
                  <a:srgbClr val="16191F"/>
                </a:solidFill>
                <a:latin typeface="Calibri" pitchFamily="34" charset="0"/>
                <a:ea typeface="Calibri" pitchFamily="34" charset="-122"/>
                <a:cs typeface="Calibri" pitchFamily="34" charset="-120"/>
              </a:rPr>
              <a:t>BUDGET PROJECTION</a:t>
            </a:r>
            <a:endParaRPr lang="en-US" sz="1500" dirty="0"/>
          </a:p>
        </p:txBody>
      </p:sp>
      <p:sp>
        <p:nvSpPr>
          <p:cNvPr id="16" name="Budget projection text"/>
          <p:cNvSpPr txBox="1"/>
          <p:nvPr/>
        </p:nvSpPr>
        <p:spPr>
          <a:xfrm>
            <a:off x="7589520" y="5504688"/>
            <a:ext cx="4251960" cy="960120"/>
          </a:xfrm>
          <a:prstGeom prst="rect">
            <a:avLst/>
          </a:prstGeom>
          <a:noFill/>
          <a:ln/>
        </p:spPr>
        <p:txBody>
          <a:bodyPr wrap="square" lIns="0" tIns="0" rIns="0" bIns="0" rtlCol="0" anchor="t"/>
          <a:lstStyle/>
          <a:p>
            <a:pPr marL="0" indent="0">
              <a:buNone/>
            </a:pPr>
            <a:r>
              <a:rPr lang="en-US" sz="1400" dirty="0">
                <a:solidFill>
                  <a:srgbClr val="5B6560"/>
                </a:solidFill>
                <a:latin typeface="Calibri" pitchFamily="34" charset="0"/>
                <a:ea typeface="Calibri" pitchFamily="34" charset="-122"/>
                <a:cs typeface="Calibri" pitchFamily="34" charset="-120"/>
              </a:rPr>
              <a:t>Month-end spend = spent ÷ days elapsed × days in month. Each threshold (75 / 90 / 100 %) alerts once per month.</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FFFFFF"/>
                </a:solidFill>
              </a:rPr>
              <a:t>RECEIPT OCR WORKFLOW</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34D399"/>
                </a:solidFill>
                <a:latin typeface="Calibri" pitchFamily="34" charset="0"/>
                <a:ea typeface="Calibri" pitchFamily="34" charset="-122"/>
                <a:cs typeface="Calibri" pitchFamily="34" charset="-120"/>
              </a:rPr>
              <a:t>PRESIGNED UPLOAD · OCR IN LAMBDA · REVIEW</a:t>
            </a:r>
            <a:endParaRPr lang="en-US" sz="1200" dirty="0"/>
          </a:p>
        </p:txBody>
      </p:sp>
      <p:sp>
        <p:nvSpPr>
          <p:cNvPr id="4" name="OCR step 1 circle"/>
          <p:cNvSpPr/>
          <p:nvPr/>
        </p:nvSpPr>
        <p:spPr>
          <a:xfrm>
            <a:off x="868680" y="1783080"/>
            <a:ext cx="457200" cy="457200"/>
          </a:xfrm>
          <a:prstGeom prst="ellipse">
            <a:avLst/>
          </a:prstGeom>
          <a:solidFill>
            <a:srgbClr val="10B981"/>
          </a:solidFill>
          <a:ln/>
        </p:spPr>
      </p:sp>
      <p:sp>
        <p:nvSpPr>
          <p:cNvPr id="5" name="OCR step 1 number"/>
          <p:cNvSpPr txBox="1"/>
          <p:nvPr/>
        </p:nvSpPr>
        <p:spPr>
          <a:xfrm>
            <a:off x="868680" y="1783080"/>
            <a:ext cx="457200" cy="457200"/>
          </a:xfrm>
          <a:prstGeom prst="rect">
            <a:avLst/>
          </a:prstGeom>
          <a:noFill/>
          <a:ln/>
        </p:spPr>
        <p:txBody>
          <a:bodyPr wrap="square" lIns="0" tIns="0" rIns="0" bIns="0" rtlCol="0" anchor="ctr"/>
          <a:lstStyle/>
          <a:p>
            <a:pPr marL="0" indent="0" algn="ctr">
              <a:buNone/>
            </a:pPr>
            <a:r>
              <a:rPr lang="en-US" sz="1700" b="1" dirty="0">
                <a:solidFill>
                  <a:srgbClr val="101114"/>
                </a:solidFill>
                <a:latin typeface="Calibri" pitchFamily="34" charset="0"/>
                <a:ea typeface="Calibri" pitchFamily="34" charset="-122"/>
                <a:cs typeface="Calibri" pitchFamily="34" charset="-120"/>
              </a:rPr>
              <a:t>1</a:t>
            </a:r>
            <a:endParaRPr lang="en-US" sz="1700" dirty="0"/>
          </a:p>
        </p:txBody>
      </p:sp>
      <p:sp>
        <p:nvSpPr>
          <p:cNvPr id="6" name="OCR step 1 title"/>
          <p:cNvSpPr txBox="1"/>
          <p:nvPr/>
        </p:nvSpPr>
        <p:spPr>
          <a:xfrm>
            <a:off x="1508760" y="1746504"/>
            <a:ext cx="4480560" cy="329184"/>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Request upload URL</a:t>
            </a:r>
            <a:endParaRPr lang="en-US" sz="1800" dirty="0"/>
          </a:p>
        </p:txBody>
      </p:sp>
      <p:sp>
        <p:nvSpPr>
          <p:cNvPr id="7" name="OCR step 1 text"/>
          <p:cNvSpPr txBox="1"/>
          <p:nvPr/>
        </p:nvSpPr>
        <p:spPr>
          <a:xfrm>
            <a:off x="1508760" y="2084832"/>
            <a:ext cx="4526280" cy="502920"/>
          </a:xfrm>
          <a:prstGeom prst="rect">
            <a:avLst/>
          </a:prstGeom>
          <a:noFill/>
          <a:ln/>
        </p:spPr>
        <p:txBody>
          <a:bodyPr wrap="square" lIns="0" tIns="0" rIns="0" bIns="0" rtlCol="0" anchor="t"/>
          <a:lstStyle/>
          <a:p>
            <a:pPr marL="0" indent="0">
              <a:buNone/>
            </a:pPr>
            <a:r>
              <a:rPr lang="en-US" sz="1500" dirty="0">
                <a:solidFill>
                  <a:srgbClr val="A1A1AA"/>
                </a:solidFill>
                <a:latin typeface="Calibri" pitchFamily="34" charset="0"/>
                <a:ea typeface="Calibri" pitchFamily="34" charset="-122"/>
                <a:cs typeface="Calibri" pitchFamily="34" charset="-120"/>
              </a:rPr>
              <a:t>5-minute presigned POST fixes key, type, encryption and 1 B–5 MB size</a:t>
            </a:r>
            <a:endParaRPr lang="en-US" sz="1500" dirty="0"/>
          </a:p>
        </p:txBody>
      </p:sp>
      <p:sp>
        <p:nvSpPr>
          <p:cNvPr id="8" name="OCR step 2 circle"/>
          <p:cNvSpPr/>
          <p:nvPr/>
        </p:nvSpPr>
        <p:spPr>
          <a:xfrm>
            <a:off x="868680" y="2679192"/>
            <a:ext cx="457200" cy="457200"/>
          </a:xfrm>
          <a:prstGeom prst="ellipse">
            <a:avLst/>
          </a:prstGeom>
          <a:solidFill>
            <a:srgbClr val="10B981"/>
          </a:solidFill>
          <a:ln/>
        </p:spPr>
      </p:sp>
      <p:sp>
        <p:nvSpPr>
          <p:cNvPr id="9" name="OCR step 2 number"/>
          <p:cNvSpPr txBox="1"/>
          <p:nvPr/>
        </p:nvSpPr>
        <p:spPr>
          <a:xfrm>
            <a:off x="868680" y="2679192"/>
            <a:ext cx="457200" cy="457200"/>
          </a:xfrm>
          <a:prstGeom prst="rect">
            <a:avLst/>
          </a:prstGeom>
          <a:noFill/>
          <a:ln/>
        </p:spPr>
        <p:txBody>
          <a:bodyPr wrap="square" lIns="0" tIns="0" rIns="0" bIns="0" rtlCol="0" anchor="ctr"/>
          <a:lstStyle/>
          <a:p>
            <a:pPr marL="0" indent="0" algn="ctr">
              <a:buNone/>
            </a:pPr>
            <a:r>
              <a:rPr lang="en-US" sz="1700" b="1" dirty="0">
                <a:solidFill>
                  <a:srgbClr val="101114"/>
                </a:solidFill>
                <a:latin typeface="Calibri" pitchFamily="34" charset="0"/>
                <a:ea typeface="Calibri" pitchFamily="34" charset="-122"/>
                <a:cs typeface="Calibri" pitchFamily="34" charset="-120"/>
              </a:rPr>
              <a:t>2</a:t>
            </a:r>
            <a:endParaRPr lang="en-US" sz="1700" dirty="0"/>
          </a:p>
        </p:txBody>
      </p:sp>
      <p:sp>
        <p:nvSpPr>
          <p:cNvPr id="10" name="OCR step 2 title"/>
          <p:cNvSpPr txBox="1"/>
          <p:nvPr/>
        </p:nvSpPr>
        <p:spPr>
          <a:xfrm>
            <a:off x="1508760" y="2642616"/>
            <a:ext cx="4480560" cy="329184"/>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Upload to private S3</a:t>
            </a:r>
            <a:endParaRPr lang="en-US" sz="1800" dirty="0"/>
          </a:p>
        </p:txBody>
      </p:sp>
      <p:sp>
        <p:nvSpPr>
          <p:cNvPr id="11" name="OCR step 2 text"/>
          <p:cNvSpPr txBox="1"/>
          <p:nvPr/>
        </p:nvSpPr>
        <p:spPr>
          <a:xfrm>
            <a:off x="1508760" y="2980944"/>
            <a:ext cx="4526280" cy="502920"/>
          </a:xfrm>
          <a:prstGeom prst="rect">
            <a:avLst/>
          </a:prstGeom>
          <a:noFill/>
          <a:ln/>
        </p:spPr>
        <p:txBody>
          <a:bodyPr wrap="square" lIns="0" tIns="0" rIns="0" bIns="0" rtlCol="0" anchor="t"/>
          <a:lstStyle/>
          <a:p>
            <a:pPr marL="0" indent="0">
              <a:buNone/>
            </a:pPr>
            <a:r>
              <a:rPr lang="en-US" sz="1500" dirty="0">
                <a:solidFill>
                  <a:srgbClr val="A1A1AA"/>
                </a:solidFill>
                <a:latin typeface="Calibri" pitchFamily="34" charset="0"/>
                <a:ea typeface="Calibri" pitchFamily="34" charset="-122"/>
                <a:cs typeface="Calibri" pitchFamily="34" charset="-120"/>
              </a:rPr>
              <a:t>the browser posts the image straight to the bucket</a:t>
            </a:r>
            <a:endParaRPr lang="en-US" sz="1500" dirty="0"/>
          </a:p>
        </p:txBody>
      </p:sp>
      <p:sp>
        <p:nvSpPr>
          <p:cNvPr id="12" name="OCR step 3 circle"/>
          <p:cNvSpPr/>
          <p:nvPr/>
        </p:nvSpPr>
        <p:spPr>
          <a:xfrm>
            <a:off x="868680" y="3575304"/>
            <a:ext cx="457200" cy="457200"/>
          </a:xfrm>
          <a:prstGeom prst="ellipse">
            <a:avLst/>
          </a:prstGeom>
          <a:solidFill>
            <a:srgbClr val="10B981"/>
          </a:solidFill>
          <a:ln/>
        </p:spPr>
      </p:sp>
      <p:sp>
        <p:nvSpPr>
          <p:cNvPr id="13" name="OCR step 3 number"/>
          <p:cNvSpPr txBox="1"/>
          <p:nvPr/>
        </p:nvSpPr>
        <p:spPr>
          <a:xfrm>
            <a:off x="868680" y="3575304"/>
            <a:ext cx="457200" cy="457200"/>
          </a:xfrm>
          <a:prstGeom prst="rect">
            <a:avLst/>
          </a:prstGeom>
          <a:noFill/>
          <a:ln/>
        </p:spPr>
        <p:txBody>
          <a:bodyPr wrap="square" lIns="0" tIns="0" rIns="0" bIns="0" rtlCol="0" anchor="ctr"/>
          <a:lstStyle/>
          <a:p>
            <a:pPr marL="0" indent="0" algn="ctr">
              <a:buNone/>
            </a:pPr>
            <a:r>
              <a:rPr lang="en-US" sz="1700" b="1" dirty="0">
                <a:solidFill>
                  <a:srgbClr val="101114"/>
                </a:solidFill>
                <a:latin typeface="Calibri" pitchFamily="34" charset="0"/>
                <a:ea typeface="Calibri" pitchFamily="34" charset="-122"/>
                <a:cs typeface="Calibri" pitchFamily="34" charset="-120"/>
              </a:rPr>
              <a:t>3</a:t>
            </a:r>
            <a:endParaRPr lang="en-US" sz="1700" dirty="0"/>
          </a:p>
        </p:txBody>
      </p:sp>
      <p:sp>
        <p:nvSpPr>
          <p:cNvPr id="14" name="OCR step 3 title"/>
          <p:cNvSpPr txBox="1"/>
          <p:nvPr/>
        </p:nvSpPr>
        <p:spPr>
          <a:xfrm>
            <a:off x="1508760" y="3538728"/>
            <a:ext cx="4480560" cy="329184"/>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OCR in Lambda</a:t>
            </a:r>
            <a:endParaRPr lang="en-US" sz="1800" dirty="0"/>
          </a:p>
        </p:txBody>
      </p:sp>
      <p:sp>
        <p:nvSpPr>
          <p:cNvPr id="15" name="OCR step 3 text"/>
          <p:cNvSpPr txBox="1"/>
          <p:nvPr/>
        </p:nvSpPr>
        <p:spPr>
          <a:xfrm>
            <a:off x="1508760" y="3877056"/>
            <a:ext cx="4526280" cy="502920"/>
          </a:xfrm>
          <a:prstGeom prst="rect">
            <a:avLst/>
          </a:prstGeom>
          <a:noFill/>
          <a:ln/>
        </p:spPr>
        <p:txBody>
          <a:bodyPr wrap="square" lIns="0" tIns="0" rIns="0" bIns="0" rtlCol="0" anchor="t"/>
          <a:lstStyle/>
          <a:p>
            <a:pPr marL="0" indent="0">
              <a:buNone/>
            </a:pPr>
            <a:r>
              <a:rPr lang="en-US" sz="1500" dirty="0">
                <a:solidFill>
                  <a:srgbClr val="A1A1AA"/>
                </a:solidFill>
                <a:latin typeface="Calibri" pitchFamily="34" charset="0"/>
                <a:ea typeface="Calibri" pitchFamily="34" charset="-122"/>
                <a:cs typeface="Calibri" pitchFamily="34" charset="-120"/>
              </a:rPr>
              <a:t>validation, Pillow preprocessing, Tesseract --psm 4</a:t>
            </a:r>
            <a:endParaRPr lang="en-US" sz="1500" dirty="0"/>
          </a:p>
        </p:txBody>
      </p:sp>
      <p:sp>
        <p:nvSpPr>
          <p:cNvPr id="16" name="OCR step 4 circle"/>
          <p:cNvSpPr/>
          <p:nvPr/>
        </p:nvSpPr>
        <p:spPr>
          <a:xfrm>
            <a:off x="868680" y="4471416"/>
            <a:ext cx="457200" cy="457200"/>
          </a:xfrm>
          <a:prstGeom prst="ellipse">
            <a:avLst/>
          </a:prstGeom>
          <a:solidFill>
            <a:srgbClr val="10B981"/>
          </a:solidFill>
          <a:ln/>
        </p:spPr>
      </p:sp>
      <p:sp>
        <p:nvSpPr>
          <p:cNvPr id="17" name="OCR step 4 number"/>
          <p:cNvSpPr txBox="1"/>
          <p:nvPr/>
        </p:nvSpPr>
        <p:spPr>
          <a:xfrm>
            <a:off x="868680" y="4471416"/>
            <a:ext cx="457200" cy="457200"/>
          </a:xfrm>
          <a:prstGeom prst="rect">
            <a:avLst/>
          </a:prstGeom>
          <a:noFill/>
          <a:ln/>
        </p:spPr>
        <p:txBody>
          <a:bodyPr wrap="square" lIns="0" tIns="0" rIns="0" bIns="0" rtlCol="0" anchor="ctr"/>
          <a:lstStyle/>
          <a:p>
            <a:pPr marL="0" indent="0" algn="ctr">
              <a:buNone/>
            </a:pPr>
            <a:r>
              <a:rPr lang="en-US" sz="1700" b="1" dirty="0">
                <a:solidFill>
                  <a:srgbClr val="101114"/>
                </a:solidFill>
                <a:latin typeface="Calibri" pitchFamily="34" charset="0"/>
                <a:ea typeface="Calibri" pitchFamily="34" charset="-122"/>
                <a:cs typeface="Calibri" pitchFamily="34" charset="-120"/>
              </a:rPr>
              <a:t>4</a:t>
            </a:r>
            <a:endParaRPr lang="en-US" sz="1700" dirty="0"/>
          </a:p>
        </p:txBody>
      </p:sp>
      <p:sp>
        <p:nvSpPr>
          <p:cNvPr id="18" name="OCR step 4 title"/>
          <p:cNvSpPr txBox="1"/>
          <p:nvPr/>
        </p:nvSpPr>
        <p:spPr>
          <a:xfrm>
            <a:off x="1508760" y="4434840"/>
            <a:ext cx="4480560" cy="329184"/>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Parse with confidence</a:t>
            </a:r>
            <a:endParaRPr lang="en-US" sz="1800" dirty="0"/>
          </a:p>
        </p:txBody>
      </p:sp>
      <p:sp>
        <p:nvSpPr>
          <p:cNvPr id="19" name="OCR step 4 text"/>
          <p:cNvSpPr txBox="1"/>
          <p:nvPr/>
        </p:nvSpPr>
        <p:spPr>
          <a:xfrm>
            <a:off x="1508760" y="4773168"/>
            <a:ext cx="4526280" cy="502920"/>
          </a:xfrm>
          <a:prstGeom prst="rect">
            <a:avLst/>
          </a:prstGeom>
          <a:noFill/>
          <a:ln/>
        </p:spPr>
        <p:txBody>
          <a:bodyPr wrap="square" lIns="0" tIns="0" rIns="0" bIns="0" rtlCol="0" anchor="t"/>
          <a:lstStyle/>
          <a:p>
            <a:pPr marL="0" indent="0">
              <a:buNone/>
            </a:pPr>
            <a:r>
              <a:rPr lang="en-US" sz="1500" dirty="0">
                <a:solidFill>
                  <a:srgbClr val="A1A1AA"/>
                </a:solidFill>
                <a:latin typeface="Calibri" pitchFamily="34" charset="0"/>
                <a:ea typeface="Calibri" pitchFamily="34" charset="-122"/>
                <a:cs typeface="Calibri" pitchFamily="34" charset="-120"/>
              </a:rPr>
              <a:t>merchant, date, total, tax, currency, line items</a:t>
            </a:r>
            <a:endParaRPr lang="en-US" sz="1500" dirty="0"/>
          </a:p>
        </p:txBody>
      </p:sp>
      <p:sp>
        <p:nvSpPr>
          <p:cNvPr id="20" name="OCR step 5 circle"/>
          <p:cNvSpPr/>
          <p:nvPr/>
        </p:nvSpPr>
        <p:spPr>
          <a:xfrm>
            <a:off x="868680" y="5367528"/>
            <a:ext cx="457200" cy="457200"/>
          </a:xfrm>
          <a:prstGeom prst="ellipse">
            <a:avLst/>
          </a:prstGeom>
          <a:solidFill>
            <a:srgbClr val="10B981"/>
          </a:solidFill>
          <a:ln/>
        </p:spPr>
      </p:sp>
      <p:sp>
        <p:nvSpPr>
          <p:cNvPr id="21" name="OCR step 5 number"/>
          <p:cNvSpPr txBox="1"/>
          <p:nvPr/>
        </p:nvSpPr>
        <p:spPr>
          <a:xfrm>
            <a:off x="868680" y="5367528"/>
            <a:ext cx="457200" cy="457200"/>
          </a:xfrm>
          <a:prstGeom prst="rect">
            <a:avLst/>
          </a:prstGeom>
          <a:noFill/>
          <a:ln/>
        </p:spPr>
        <p:txBody>
          <a:bodyPr wrap="square" lIns="0" tIns="0" rIns="0" bIns="0" rtlCol="0" anchor="ctr"/>
          <a:lstStyle/>
          <a:p>
            <a:pPr marL="0" indent="0" algn="ctr">
              <a:buNone/>
            </a:pPr>
            <a:r>
              <a:rPr lang="en-US" sz="1700" b="1" dirty="0">
                <a:solidFill>
                  <a:srgbClr val="101114"/>
                </a:solidFill>
                <a:latin typeface="Calibri" pitchFamily="34" charset="0"/>
                <a:ea typeface="Calibri" pitchFamily="34" charset="-122"/>
                <a:cs typeface="Calibri" pitchFamily="34" charset="-120"/>
              </a:rPr>
              <a:t>5</a:t>
            </a:r>
            <a:endParaRPr lang="en-US" sz="1700" dirty="0"/>
          </a:p>
        </p:txBody>
      </p:sp>
      <p:sp>
        <p:nvSpPr>
          <p:cNvPr id="22" name="OCR step 5 title"/>
          <p:cNvSpPr txBox="1"/>
          <p:nvPr/>
        </p:nvSpPr>
        <p:spPr>
          <a:xfrm>
            <a:off x="1508760" y="5330952"/>
            <a:ext cx="4480560" cy="329184"/>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Review and confirm</a:t>
            </a:r>
            <a:endParaRPr lang="en-US" sz="1800" dirty="0"/>
          </a:p>
        </p:txBody>
      </p:sp>
      <p:sp>
        <p:nvSpPr>
          <p:cNvPr id="23" name="OCR step 5 text"/>
          <p:cNvSpPr txBox="1"/>
          <p:nvPr/>
        </p:nvSpPr>
        <p:spPr>
          <a:xfrm>
            <a:off x="1508760" y="5669280"/>
            <a:ext cx="4526280" cy="502920"/>
          </a:xfrm>
          <a:prstGeom prst="rect">
            <a:avLst/>
          </a:prstGeom>
          <a:noFill/>
          <a:ln/>
        </p:spPr>
        <p:txBody>
          <a:bodyPr wrap="square" lIns="0" tIns="0" rIns="0" bIns="0" rtlCol="0" anchor="t"/>
          <a:lstStyle/>
          <a:p>
            <a:pPr marL="0" indent="0">
              <a:buNone/>
            </a:pPr>
            <a:r>
              <a:rPr lang="en-US" sz="1500" dirty="0">
                <a:solidFill>
                  <a:srgbClr val="A1A1AA"/>
                </a:solidFill>
                <a:latin typeface="Calibri" pitchFamily="34" charset="0"/>
                <a:ea typeface="Calibri" pitchFamily="34" charset="-122"/>
                <a:cs typeface="Calibri" pitchFamily="34" charset="-120"/>
              </a:rPr>
              <a:t>the user corrects fields; a linked expense is created</a:t>
            </a:r>
            <a:endParaRPr lang="en-US" sz="1500" dirty="0"/>
          </a:p>
        </p:txBody>
      </p:sp>
      <p:pic>
        <p:nvPicPr>
          <p:cNvPr id="24" name="Live receipt review screenshot" descr="C:\Users\Aakar\AppData\Local\Temp\finsight-deck-OB3SKH\receipt.png"/>
          <p:cNvPicPr>
            <a:picLocks noChangeAspect="1"/>
          </p:cNvPicPr>
          <p:nvPr/>
        </p:nvPicPr>
        <p:blipFill>
          <a:blip r:embed="rId3"/>
          <a:srcRect/>
          <a:stretch/>
        </p:blipFill>
        <p:spPr>
          <a:xfrm>
            <a:off x="6400800" y="914400"/>
            <a:ext cx="5790895" cy="4315968"/>
          </a:xfrm>
          <a:prstGeom prst="rect">
            <a:avLst/>
          </a:prstGeom>
        </p:spPr>
      </p:pic>
      <p:sp>
        <p:nvSpPr>
          <p:cNvPr id="25" name="OCR confidence value"/>
          <p:cNvSpPr txBox="1"/>
          <p:nvPr/>
        </p:nvSpPr>
        <p:spPr>
          <a:xfrm>
            <a:off x="6400800" y="5440680"/>
            <a:ext cx="1783080" cy="566928"/>
          </a:xfrm>
          <a:prstGeom prst="rect">
            <a:avLst/>
          </a:prstGeom>
          <a:noFill/>
          <a:ln/>
        </p:spPr>
        <p:txBody>
          <a:bodyPr wrap="square" lIns="0" tIns="0" rIns="0" bIns="0" rtlCol="0" anchor="t"/>
          <a:lstStyle/>
          <a:p>
            <a:pPr marL="0" indent="0">
              <a:buNone/>
            </a:pPr>
            <a:r>
              <a:rPr lang="en-US" sz="3000" b="1" dirty="0">
                <a:solidFill>
                  <a:srgbClr val="34D399"/>
                </a:solidFill>
                <a:latin typeface="Calibri" pitchFamily="34" charset="0"/>
                <a:ea typeface="Calibri" pitchFamily="34" charset="-122"/>
                <a:cs typeface="Calibri" pitchFamily="34" charset="-120"/>
              </a:rPr>
              <a:t>93.3 %</a:t>
            </a:r>
            <a:endParaRPr lang="en-US" sz="3000" dirty="0"/>
          </a:p>
        </p:txBody>
      </p:sp>
      <p:sp>
        <p:nvSpPr>
          <p:cNvPr id="26" name="OCR confidence label"/>
          <p:cNvSpPr txBox="1"/>
          <p:nvPr/>
        </p:nvSpPr>
        <p:spPr>
          <a:xfrm>
            <a:off x="6400800" y="6007608"/>
            <a:ext cx="1783080" cy="320040"/>
          </a:xfrm>
          <a:prstGeom prst="rect">
            <a:avLst/>
          </a:prstGeom>
          <a:noFill/>
          <a:ln/>
        </p:spPr>
        <p:txBody>
          <a:bodyPr wrap="square" lIns="0" tIns="0" rIns="0" bIns="0" rtlCol="0" anchor="t"/>
          <a:lstStyle/>
          <a:p>
            <a:pPr marL="0" indent="0">
              <a:buNone/>
            </a:pPr>
            <a:r>
              <a:rPr lang="en-US" sz="1400" dirty="0">
                <a:solidFill>
                  <a:srgbClr val="A1A1AA"/>
                </a:solidFill>
                <a:latin typeface="Calibri" pitchFamily="34" charset="0"/>
                <a:ea typeface="Calibri" pitchFamily="34" charset="-122"/>
                <a:cs typeface="Calibri" pitchFamily="34" charset="-120"/>
              </a:rPr>
              <a:t>OCR confidence</a:t>
            </a:r>
            <a:endParaRPr lang="en-US" sz="1400" dirty="0"/>
          </a:p>
        </p:txBody>
      </p:sp>
      <p:sp>
        <p:nvSpPr>
          <p:cNvPr id="27" name="total extracted value"/>
          <p:cNvSpPr txBox="1"/>
          <p:nvPr/>
        </p:nvSpPr>
        <p:spPr>
          <a:xfrm>
            <a:off x="8229600" y="5440680"/>
            <a:ext cx="1783080" cy="566928"/>
          </a:xfrm>
          <a:prstGeom prst="rect">
            <a:avLst/>
          </a:prstGeom>
          <a:noFill/>
          <a:ln/>
        </p:spPr>
        <p:txBody>
          <a:bodyPr wrap="square" lIns="0" tIns="0" rIns="0" bIns="0" rtlCol="0" anchor="t"/>
          <a:lstStyle/>
          <a:p>
            <a:pPr marL="0" indent="0">
              <a:buNone/>
            </a:pPr>
            <a:r>
              <a:rPr lang="en-US" sz="3000" b="1" dirty="0">
                <a:solidFill>
                  <a:srgbClr val="34D399"/>
                </a:solidFill>
                <a:latin typeface="Calibri" pitchFamily="34" charset="0"/>
                <a:ea typeface="Calibri" pitchFamily="34" charset="-122"/>
                <a:cs typeface="Calibri" pitchFamily="34" charset="-120"/>
              </a:rPr>
              <a:t>₹610.05</a:t>
            </a:r>
            <a:endParaRPr lang="en-US" sz="3000" dirty="0"/>
          </a:p>
        </p:txBody>
      </p:sp>
      <p:sp>
        <p:nvSpPr>
          <p:cNvPr id="28" name="total extracted label"/>
          <p:cNvSpPr txBox="1"/>
          <p:nvPr/>
        </p:nvSpPr>
        <p:spPr>
          <a:xfrm>
            <a:off x="8229600" y="6007608"/>
            <a:ext cx="1783080" cy="320040"/>
          </a:xfrm>
          <a:prstGeom prst="rect">
            <a:avLst/>
          </a:prstGeom>
          <a:noFill/>
          <a:ln/>
        </p:spPr>
        <p:txBody>
          <a:bodyPr wrap="square" lIns="0" tIns="0" rIns="0" bIns="0" rtlCol="0" anchor="t"/>
          <a:lstStyle/>
          <a:p>
            <a:pPr marL="0" indent="0">
              <a:buNone/>
            </a:pPr>
            <a:r>
              <a:rPr lang="en-US" sz="1400" dirty="0">
                <a:solidFill>
                  <a:srgbClr val="A1A1AA"/>
                </a:solidFill>
                <a:latin typeface="Calibri" pitchFamily="34" charset="0"/>
                <a:ea typeface="Calibri" pitchFamily="34" charset="-122"/>
                <a:cs typeface="Calibri" pitchFamily="34" charset="-120"/>
              </a:rPr>
              <a:t>total extracted</a:t>
            </a:r>
            <a:endParaRPr lang="en-US" sz="1400" dirty="0"/>
          </a:p>
        </p:txBody>
      </p:sp>
      <p:sp>
        <p:nvSpPr>
          <p:cNvPr id="29" name="processed in Lambda value"/>
          <p:cNvSpPr txBox="1"/>
          <p:nvPr/>
        </p:nvSpPr>
        <p:spPr>
          <a:xfrm>
            <a:off x="10058400" y="5440680"/>
            <a:ext cx="1783080" cy="566928"/>
          </a:xfrm>
          <a:prstGeom prst="rect">
            <a:avLst/>
          </a:prstGeom>
          <a:noFill/>
          <a:ln/>
        </p:spPr>
        <p:txBody>
          <a:bodyPr wrap="square" lIns="0" tIns="0" rIns="0" bIns="0" rtlCol="0" anchor="t"/>
          <a:lstStyle/>
          <a:p>
            <a:pPr marL="0" indent="0">
              <a:buNone/>
            </a:pPr>
            <a:r>
              <a:rPr lang="en-US" sz="3000" b="1" dirty="0">
                <a:solidFill>
                  <a:srgbClr val="34D399"/>
                </a:solidFill>
                <a:latin typeface="Calibri" pitchFamily="34" charset="0"/>
                <a:ea typeface="Calibri" pitchFamily="34" charset="-122"/>
                <a:cs typeface="Calibri" pitchFamily="34" charset="-120"/>
              </a:rPr>
              <a:t>3.2 s</a:t>
            </a:r>
            <a:endParaRPr lang="en-US" sz="3000" dirty="0"/>
          </a:p>
        </p:txBody>
      </p:sp>
      <p:sp>
        <p:nvSpPr>
          <p:cNvPr id="30" name="processed in Lambda label"/>
          <p:cNvSpPr txBox="1"/>
          <p:nvPr/>
        </p:nvSpPr>
        <p:spPr>
          <a:xfrm>
            <a:off x="10058400" y="6007608"/>
            <a:ext cx="1783080" cy="320040"/>
          </a:xfrm>
          <a:prstGeom prst="rect">
            <a:avLst/>
          </a:prstGeom>
          <a:noFill/>
          <a:ln/>
        </p:spPr>
        <p:txBody>
          <a:bodyPr wrap="square" lIns="0" tIns="0" rIns="0" bIns="0" rtlCol="0" anchor="t"/>
          <a:lstStyle/>
          <a:p>
            <a:pPr marL="0" indent="0">
              <a:buNone/>
            </a:pPr>
            <a:r>
              <a:rPr lang="en-US" sz="1400" dirty="0">
                <a:solidFill>
                  <a:srgbClr val="A1A1AA"/>
                </a:solidFill>
                <a:latin typeface="Calibri" pitchFamily="34" charset="0"/>
                <a:ea typeface="Calibri" pitchFamily="34" charset="-122"/>
                <a:cs typeface="Calibri" pitchFamily="34" charset="-120"/>
              </a:rPr>
              <a:t>processed in Lambda</a:t>
            </a:r>
            <a:endParaRPr lang="en-US" sz="1400" dirty="0"/>
          </a:p>
        </p:txBody>
      </p:sp>
      <p:sp>
        <p:nvSpPr>
          <p:cNvPr id="31"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B9097"/>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AWS DEPLOYMENT AND SECURITY</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LIVE SINCE 16 OCTOBER 2026 · AWS SAM</a:t>
            </a:r>
            <a:endParaRPr lang="en-US" sz="1200" dirty="0"/>
          </a:p>
        </p:txBody>
      </p:sp>
      <p:sp>
        <p:nvSpPr>
          <p:cNvPr id="4" name="STACK label"/>
          <p:cNvSpPr txBox="1"/>
          <p:nvPr/>
        </p:nvSpPr>
        <p:spPr>
          <a:xfrm>
            <a:off x="868680" y="1783080"/>
            <a:ext cx="1325880" cy="457200"/>
          </a:xfrm>
          <a:prstGeom prst="rect">
            <a:avLst/>
          </a:prstGeom>
          <a:noFill/>
          <a:ln/>
        </p:spPr>
        <p:txBody>
          <a:bodyPr wrap="square" lIns="0" tIns="0" rIns="0" bIns="0" rtlCol="0" anchor="ctr"/>
          <a:lstStyle/>
          <a:p>
            <a:pPr marL="0" indent="0">
              <a:buNone/>
            </a:pPr>
            <a:r>
              <a:rPr lang="en-US" sz="1200" b="1" kern="0" spc="300" dirty="0">
                <a:solidFill>
                  <a:srgbClr val="047857"/>
                </a:solidFill>
                <a:latin typeface="Calibri" pitchFamily="34" charset="0"/>
                <a:ea typeface="Calibri" pitchFamily="34" charset="-122"/>
                <a:cs typeface="Calibri" pitchFamily="34" charset="-120"/>
              </a:rPr>
              <a:t>STACK</a:t>
            </a:r>
            <a:endParaRPr lang="en-US" sz="1200" dirty="0"/>
          </a:p>
        </p:txBody>
      </p:sp>
      <p:sp>
        <p:nvSpPr>
          <p:cNvPr id="5" name="STACK value"/>
          <p:cNvSpPr txBox="1"/>
          <p:nvPr/>
        </p:nvSpPr>
        <p:spPr>
          <a:xfrm>
            <a:off x="2194560" y="1783080"/>
            <a:ext cx="3657600" cy="457200"/>
          </a:xfrm>
          <a:prstGeom prst="rect">
            <a:avLst/>
          </a:prstGeom>
          <a:noFill/>
          <a:ln/>
        </p:spPr>
        <p:txBody>
          <a:bodyPr wrap="square" lIns="0" tIns="0" rIns="0" bIns="0"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finance-intelligence-prod · 63 resources</a:t>
            </a:r>
            <a:endParaRPr lang="en-US" sz="1600" dirty="0"/>
          </a:p>
        </p:txBody>
      </p:sp>
      <p:sp>
        <p:nvSpPr>
          <p:cNvPr id="6" name="HOSTING label"/>
          <p:cNvSpPr txBox="1"/>
          <p:nvPr/>
        </p:nvSpPr>
        <p:spPr>
          <a:xfrm>
            <a:off x="868680" y="2386584"/>
            <a:ext cx="1325880" cy="457200"/>
          </a:xfrm>
          <a:prstGeom prst="rect">
            <a:avLst/>
          </a:prstGeom>
          <a:noFill/>
          <a:ln/>
        </p:spPr>
        <p:txBody>
          <a:bodyPr wrap="square" lIns="0" tIns="0" rIns="0" bIns="0" rtlCol="0" anchor="ctr"/>
          <a:lstStyle/>
          <a:p>
            <a:pPr marL="0" indent="0">
              <a:buNone/>
            </a:pPr>
            <a:r>
              <a:rPr lang="en-US" sz="1200" b="1" kern="0" spc="300" dirty="0">
                <a:solidFill>
                  <a:srgbClr val="047857"/>
                </a:solidFill>
                <a:latin typeface="Calibri" pitchFamily="34" charset="0"/>
                <a:ea typeface="Calibri" pitchFamily="34" charset="-122"/>
                <a:cs typeface="Calibri" pitchFamily="34" charset="-120"/>
              </a:rPr>
              <a:t>HOSTING</a:t>
            </a:r>
            <a:endParaRPr lang="en-US" sz="1200" dirty="0"/>
          </a:p>
        </p:txBody>
      </p:sp>
      <p:sp>
        <p:nvSpPr>
          <p:cNvPr id="7" name="HOSTING value"/>
          <p:cNvSpPr txBox="1"/>
          <p:nvPr/>
        </p:nvSpPr>
        <p:spPr>
          <a:xfrm>
            <a:off x="2194560" y="2386584"/>
            <a:ext cx="3657600" cy="457200"/>
          </a:xfrm>
          <a:prstGeom prst="rect">
            <a:avLst/>
          </a:prstGeom>
          <a:noFill/>
          <a:ln/>
        </p:spPr>
        <p:txBody>
          <a:bodyPr wrap="square" lIns="0" tIns="0" rIns="0" bIns="0"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API Gateway + WebFunction (CloudFront blocked)</a:t>
            </a:r>
            <a:endParaRPr lang="en-US" sz="1600" dirty="0"/>
          </a:p>
        </p:txBody>
      </p:sp>
      <p:sp>
        <p:nvSpPr>
          <p:cNvPr id="8" name="RELEASES label"/>
          <p:cNvSpPr txBox="1"/>
          <p:nvPr/>
        </p:nvSpPr>
        <p:spPr>
          <a:xfrm>
            <a:off x="868680" y="2990088"/>
            <a:ext cx="1325880" cy="457200"/>
          </a:xfrm>
          <a:prstGeom prst="rect">
            <a:avLst/>
          </a:prstGeom>
          <a:noFill/>
          <a:ln/>
        </p:spPr>
        <p:txBody>
          <a:bodyPr wrap="square" lIns="0" tIns="0" rIns="0" bIns="0" rtlCol="0" anchor="ctr"/>
          <a:lstStyle/>
          <a:p>
            <a:pPr marL="0" indent="0">
              <a:buNone/>
            </a:pPr>
            <a:r>
              <a:rPr lang="en-US" sz="1200" b="1" kern="0" spc="300" dirty="0">
                <a:solidFill>
                  <a:srgbClr val="047857"/>
                </a:solidFill>
                <a:latin typeface="Calibri" pitchFamily="34" charset="0"/>
                <a:ea typeface="Calibri" pitchFamily="34" charset="-122"/>
                <a:cs typeface="Calibri" pitchFamily="34" charset="-120"/>
              </a:rPr>
              <a:t>RELEASES</a:t>
            </a:r>
            <a:endParaRPr lang="en-US" sz="1200" dirty="0"/>
          </a:p>
        </p:txBody>
      </p:sp>
      <p:sp>
        <p:nvSpPr>
          <p:cNvPr id="9" name="RELEASES value"/>
          <p:cNvSpPr txBox="1"/>
          <p:nvPr/>
        </p:nvSpPr>
        <p:spPr>
          <a:xfrm>
            <a:off x="2194560" y="2990088"/>
            <a:ext cx="3657600" cy="457200"/>
          </a:xfrm>
          <a:prstGeom prst="rect">
            <a:avLst/>
          </a:prstGeom>
          <a:noFill/>
          <a:ln/>
        </p:spPr>
        <p:txBody>
          <a:bodyPr wrap="square" lIns="0" tIns="0" rIns="0" bIns="0" rtlCol="0" anchor="ctr"/>
          <a:lstStyle/>
          <a:p>
            <a:pPr marL="0" indent="0">
              <a:buNone/>
            </a:pPr>
            <a:r>
              <a:rPr lang="en-US" sz="1600" b="1" dirty="0">
                <a:solidFill>
                  <a:srgbClr val="16191F"/>
                </a:solidFill>
                <a:latin typeface="Calibri" pitchFamily="34" charset="0"/>
                <a:ea typeface="Calibri" pitchFamily="34" charset="-122"/>
                <a:cs typeface="Calibri" pitchFamily="34" charset="-120"/>
              </a:rPr>
              <a:t>change-set review · 3 code-only updates</a:t>
            </a:r>
            <a:endParaRPr lang="en-US" sz="1600" dirty="0"/>
          </a:p>
        </p:txBody>
      </p:sp>
      <p:sp>
        <p:nvSpPr>
          <p:cNvPr id="10" name="Two token checks circle"/>
          <p:cNvSpPr/>
          <p:nvPr/>
        </p:nvSpPr>
        <p:spPr>
          <a:xfrm>
            <a:off x="868680" y="3703320"/>
            <a:ext cx="457200" cy="457200"/>
          </a:xfrm>
          <a:prstGeom prst="ellipse">
            <a:avLst/>
          </a:prstGeom>
          <a:solidFill>
            <a:srgbClr val="16191F"/>
          </a:solidFill>
          <a:ln/>
        </p:spPr>
      </p:sp>
      <p:pic>
        <p:nvPicPr>
          <p:cNvPr id="11" name="Two token checks icon" descr="D:\Aakar\College\CAD Project\docs\report_assets\presentation\icons\KeyRound.png"/>
          <p:cNvPicPr>
            <a:picLocks noChangeAspect="1"/>
          </p:cNvPicPr>
          <p:nvPr/>
        </p:nvPicPr>
        <p:blipFill>
          <a:blip r:embed="rId3"/>
          <a:stretch>
            <a:fillRect/>
          </a:stretch>
        </p:blipFill>
        <p:spPr>
          <a:xfrm>
            <a:off x="960120" y="3794760"/>
            <a:ext cx="274320" cy="274320"/>
          </a:xfrm>
          <a:prstGeom prst="rect">
            <a:avLst/>
          </a:prstGeom>
        </p:spPr>
      </p:pic>
      <p:sp>
        <p:nvSpPr>
          <p:cNvPr id="12" name="Two token checks text"/>
          <p:cNvSpPr txBox="1"/>
          <p:nvPr/>
        </p:nvSpPr>
        <p:spPr>
          <a:xfrm>
            <a:off x="1463040" y="3657600"/>
            <a:ext cx="4480560" cy="685800"/>
          </a:xfrm>
          <a:prstGeom prst="rect">
            <a:avLst/>
          </a:prstGeom>
          <a:noFill/>
          <a:ln/>
        </p:spPr>
        <p:txBody>
          <a:bodyPr wrap="square" lIns="0" tIns="0" rIns="0" bIns="0" rtlCol="0" anchor="ctr"/>
          <a:lstStyle/>
          <a:p>
            <a:pPr marL="0" indent="0">
              <a:buNone/>
            </a:pPr>
            <a:r>
              <a:rPr lang="en-US" sz="1400" b="1" dirty="0">
                <a:solidFill>
                  <a:srgbClr val="16191F"/>
                </a:solidFill>
                <a:latin typeface="Calibri" pitchFamily="34" charset="0"/>
                <a:ea typeface="Calibri" pitchFamily="34" charset="-122"/>
                <a:cs typeface="Calibri" pitchFamily="34" charset="-120"/>
              </a:rPr>
              <a:t>Two token checks  </a:t>
            </a:r>
            <a:r>
              <a:rPr lang="en-US" sz="1400" dirty="0">
                <a:solidFill>
                  <a:srgbClr val="5B6560"/>
                </a:solidFill>
                <a:latin typeface="Calibri" pitchFamily="34" charset="0"/>
                <a:ea typeface="Calibri" pitchFamily="34" charset="-122"/>
                <a:cs typeface="Calibri" pitchFamily="34" charset="-120"/>
              </a:rPr>
              <a:t>JWT authorizer, then JWKS and Cognito GetUser (sign-out revokes within 15 s)</a:t>
            </a:r>
            <a:endParaRPr lang="en-US" sz="1400" dirty="0"/>
          </a:p>
        </p:txBody>
      </p:sp>
      <p:sp>
        <p:nvSpPr>
          <p:cNvPr id="13" name="Per-user isolation circle"/>
          <p:cNvSpPr/>
          <p:nvPr/>
        </p:nvSpPr>
        <p:spPr>
          <a:xfrm>
            <a:off x="868680" y="4434840"/>
            <a:ext cx="457200" cy="457200"/>
          </a:xfrm>
          <a:prstGeom prst="ellipse">
            <a:avLst/>
          </a:prstGeom>
          <a:solidFill>
            <a:srgbClr val="16191F"/>
          </a:solidFill>
          <a:ln/>
        </p:spPr>
      </p:sp>
      <p:pic>
        <p:nvPicPr>
          <p:cNvPr id="14" name="Per-user isolation icon" descr="D:\Aakar\College\CAD Project\docs\report_assets\presentation\icons\Users.png"/>
          <p:cNvPicPr>
            <a:picLocks noChangeAspect="1"/>
          </p:cNvPicPr>
          <p:nvPr/>
        </p:nvPicPr>
        <p:blipFill>
          <a:blip r:embed="rId4"/>
          <a:stretch>
            <a:fillRect/>
          </a:stretch>
        </p:blipFill>
        <p:spPr>
          <a:xfrm>
            <a:off x="960120" y="4526280"/>
            <a:ext cx="274320" cy="274320"/>
          </a:xfrm>
          <a:prstGeom prst="rect">
            <a:avLst/>
          </a:prstGeom>
        </p:spPr>
      </p:pic>
      <p:sp>
        <p:nvSpPr>
          <p:cNvPr id="15" name="Per-user isolation text"/>
          <p:cNvSpPr txBox="1"/>
          <p:nvPr/>
        </p:nvSpPr>
        <p:spPr>
          <a:xfrm>
            <a:off x="1463040" y="4389120"/>
            <a:ext cx="4480560" cy="685800"/>
          </a:xfrm>
          <a:prstGeom prst="rect">
            <a:avLst/>
          </a:prstGeom>
          <a:noFill/>
          <a:ln/>
        </p:spPr>
        <p:txBody>
          <a:bodyPr wrap="square" lIns="0" tIns="0" rIns="0" bIns="0" rtlCol="0" anchor="ctr"/>
          <a:lstStyle/>
          <a:p>
            <a:pPr marL="0" indent="0">
              <a:buNone/>
            </a:pPr>
            <a:r>
              <a:rPr lang="en-US" sz="1400" b="1" dirty="0">
                <a:solidFill>
                  <a:srgbClr val="16191F"/>
                </a:solidFill>
                <a:latin typeface="Calibri" pitchFamily="34" charset="0"/>
                <a:ea typeface="Calibri" pitchFamily="34" charset="-122"/>
                <a:cs typeface="Calibri" pitchFamily="34" charset="-120"/>
              </a:rPr>
              <a:t>Per-user isolation  </a:t>
            </a:r>
            <a:r>
              <a:rPr lang="en-US" sz="1400" dirty="0">
                <a:solidFill>
                  <a:srgbClr val="5B6560"/>
                </a:solidFill>
                <a:latin typeface="Calibri" pitchFamily="34" charset="0"/>
                <a:ea typeface="Calibri" pitchFamily="34" charset="-122"/>
                <a:cs typeface="Calibri" pitchFamily="34" charset="-120"/>
              </a:rPr>
              <a:t>user id only from the token; other users’ ids return 404</a:t>
            </a:r>
            <a:endParaRPr lang="en-US" sz="1400" dirty="0"/>
          </a:p>
        </p:txBody>
      </p:sp>
      <p:sp>
        <p:nvSpPr>
          <p:cNvPr id="16" name="Private receipts circle"/>
          <p:cNvSpPr/>
          <p:nvPr/>
        </p:nvSpPr>
        <p:spPr>
          <a:xfrm>
            <a:off x="868680" y="5166360"/>
            <a:ext cx="457200" cy="457200"/>
          </a:xfrm>
          <a:prstGeom prst="ellipse">
            <a:avLst/>
          </a:prstGeom>
          <a:solidFill>
            <a:srgbClr val="16191F"/>
          </a:solidFill>
          <a:ln/>
        </p:spPr>
      </p:sp>
      <p:pic>
        <p:nvPicPr>
          <p:cNvPr id="17" name="Private receipts icon" descr="D:\Aakar\College\CAD Project\docs\report_assets\presentation\icons\Lock.png"/>
          <p:cNvPicPr>
            <a:picLocks noChangeAspect="1"/>
          </p:cNvPicPr>
          <p:nvPr/>
        </p:nvPicPr>
        <p:blipFill>
          <a:blip r:embed="rId5"/>
          <a:stretch>
            <a:fillRect/>
          </a:stretch>
        </p:blipFill>
        <p:spPr>
          <a:xfrm>
            <a:off x="960120" y="5257800"/>
            <a:ext cx="274320" cy="274320"/>
          </a:xfrm>
          <a:prstGeom prst="rect">
            <a:avLst/>
          </a:prstGeom>
        </p:spPr>
      </p:pic>
      <p:sp>
        <p:nvSpPr>
          <p:cNvPr id="18" name="Private receipts text"/>
          <p:cNvSpPr txBox="1"/>
          <p:nvPr/>
        </p:nvSpPr>
        <p:spPr>
          <a:xfrm>
            <a:off x="1463040" y="5120640"/>
            <a:ext cx="4480560" cy="685800"/>
          </a:xfrm>
          <a:prstGeom prst="rect">
            <a:avLst/>
          </a:prstGeom>
          <a:noFill/>
          <a:ln/>
        </p:spPr>
        <p:txBody>
          <a:bodyPr wrap="square" lIns="0" tIns="0" rIns="0" bIns="0" rtlCol="0" anchor="ctr"/>
          <a:lstStyle/>
          <a:p>
            <a:pPr marL="0" indent="0">
              <a:buNone/>
            </a:pPr>
            <a:r>
              <a:rPr lang="en-US" sz="1400" b="1" dirty="0">
                <a:solidFill>
                  <a:srgbClr val="16191F"/>
                </a:solidFill>
                <a:latin typeface="Calibri" pitchFamily="34" charset="0"/>
                <a:ea typeface="Calibri" pitchFamily="34" charset="-122"/>
                <a:cs typeface="Calibri" pitchFamily="34" charset="-120"/>
              </a:rPr>
              <a:t>Private receipts  </a:t>
            </a:r>
            <a:r>
              <a:rPr lang="en-US" sz="1400" dirty="0">
                <a:solidFill>
                  <a:srgbClr val="5B6560"/>
                </a:solidFill>
                <a:latin typeface="Calibri" pitchFamily="34" charset="0"/>
                <a:ea typeface="Calibri" pitchFamily="34" charset="-122"/>
                <a:cs typeface="Calibri" pitchFamily="34" charset="-120"/>
              </a:rPr>
              <a:t>Block Public Access, SSE-S3, TLS-only, presigned URLs</a:t>
            </a:r>
            <a:endParaRPr lang="en-US" sz="1400" dirty="0"/>
          </a:p>
        </p:txBody>
      </p:sp>
      <p:sp>
        <p:nvSpPr>
          <p:cNvPr id="19" name="Least privilege circle"/>
          <p:cNvSpPr/>
          <p:nvPr/>
        </p:nvSpPr>
        <p:spPr>
          <a:xfrm>
            <a:off x="868680" y="5897880"/>
            <a:ext cx="457200" cy="457200"/>
          </a:xfrm>
          <a:prstGeom prst="ellipse">
            <a:avLst/>
          </a:prstGeom>
          <a:solidFill>
            <a:srgbClr val="16191F"/>
          </a:solidFill>
          <a:ln/>
        </p:spPr>
      </p:sp>
      <p:pic>
        <p:nvPicPr>
          <p:cNvPr id="20" name="Least privilege icon" descr="D:\Aakar\College\CAD Project\docs\report_assets\presentation\icons\ShieldAlert.png"/>
          <p:cNvPicPr>
            <a:picLocks noChangeAspect="1"/>
          </p:cNvPicPr>
          <p:nvPr/>
        </p:nvPicPr>
        <p:blipFill>
          <a:blip r:embed="rId6"/>
          <a:stretch>
            <a:fillRect/>
          </a:stretch>
        </p:blipFill>
        <p:spPr>
          <a:xfrm>
            <a:off x="960120" y="5989320"/>
            <a:ext cx="274320" cy="274320"/>
          </a:xfrm>
          <a:prstGeom prst="rect">
            <a:avLst/>
          </a:prstGeom>
        </p:spPr>
      </p:pic>
      <p:sp>
        <p:nvSpPr>
          <p:cNvPr id="21" name="Least privilege text"/>
          <p:cNvSpPr txBox="1"/>
          <p:nvPr/>
        </p:nvSpPr>
        <p:spPr>
          <a:xfrm>
            <a:off x="1463040" y="5852160"/>
            <a:ext cx="4480560" cy="685800"/>
          </a:xfrm>
          <a:prstGeom prst="rect">
            <a:avLst/>
          </a:prstGeom>
          <a:noFill/>
          <a:ln/>
        </p:spPr>
        <p:txBody>
          <a:bodyPr wrap="square" lIns="0" tIns="0" rIns="0" bIns="0" rtlCol="0" anchor="ctr"/>
          <a:lstStyle/>
          <a:p>
            <a:pPr marL="0" indent="0">
              <a:buNone/>
            </a:pPr>
            <a:r>
              <a:rPr lang="en-US" sz="1400" b="1" dirty="0">
                <a:solidFill>
                  <a:srgbClr val="16191F"/>
                </a:solidFill>
                <a:latin typeface="Calibri" pitchFamily="34" charset="0"/>
                <a:ea typeface="Calibri" pitchFamily="34" charset="-122"/>
                <a:cs typeface="Calibri" pitchFamily="34" charset="-120"/>
              </a:rPr>
              <a:t>Least privilege  </a:t>
            </a:r>
            <a:r>
              <a:rPr lang="en-US" sz="1400" dirty="0">
                <a:solidFill>
                  <a:srgbClr val="5B6560"/>
                </a:solidFill>
                <a:latin typeface="Calibri" pitchFamily="34" charset="0"/>
                <a:ea typeface="Calibri" pitchFamily="34" charset="-122"/>
                <a:cs typeface="Calibri" pitchFamily="34" charset="-120"/>
              </a:rPr>
              <a:t>one IAM role per function; no Scan, no wildcards</a:t>
            </a:r>
            <a:endParaRPr lang="en-US" sz="1400" dirty="0"/>
          </a:p>
        </p:txBody>
      </p:sp>
      <p:pic>
        <p:nvPicPr>
          <p:cNvPr id="22" name="AWS Console: API Gateway authorizer (masked)" descr="D:\Aakar\College\CAD Project\docs\report_assets\aws_console\03-api-gateway.png"/>
          <p:cNvPicPr>
            <a:picLocks noChangeAspect="1"/>
          </p:cNvPicPr>
          <p:nvPr/>
        </p:nvPicPr>
        <p:blipFill>
          <a:blip r:embed="rId7"/>
          <a:srcRect/>
          <a:stretch/>
        </p:blipFill>
        <p:spPr>
          <a:xfrm>
            <a:off x="6309360" y="914400"/>
            <a:ext cx="5882335" cy="2889504"/>
          </a:xfrm>
          <a:prstGeom prst="rect">
            <a:avLst/>
          </a:prstGeom>
        </p:spPr>
      </p:pic>
      <p:pic>
        <p:nvPicPr>
          <p:cNvPr id="23" name="AWS Console: S3 receipts bucket permissions (masked)" descr="D:\Aakar\College\CAD Project\docs\report_assets\aws_console\07-s3-receipt-storage.png"/>
          <p:cNvPicPr>
            <a:picLocks noChangeAspect="1"/>
          </p:cNvPicPr>
          <p:nvPr/>
        </p:nvPicPr>
        <p:blipFill>
          <a:blip r:embed="rId8"/>
          <a:srcRect/>
          <a:stretch/>
        </p:blipFill>
        <p:spPr>
          <a:xfrm>
            <a:off x="6309360" y="3931920"/>
            <a:ext cx="5882335" cy="2377440"/>
          </a:xfrm>
          <a:prstGeom prst="rect">
            <a:avLst/>
          </a:prstGeom>
        </p:spPr>
      </p:pic>
      <p:sp>
        <p:nvSpPr>
          <p:cNvPr id="24" name="Console caption"/>
          <p:cNvSpPr txBox="1"/>
          <p:nvPr/>
        </p:nvSpPr>
        <p:spPr>
          <a:xfrm>
            <a:off x="6309360" y="6400800"/>
            <a:ext cx="4937760" cy="274320"/>
          </a:xfrm>
          <a:prstGeom prst="rect">
            <a:avLst/>
          </a:prstGeom>
          <a:noFill/>
          <a:ln/>
        </p:spPr>
        <p:txBody>
          <a:bodyPr wrap="square" lIns="0" tIns="0" rIns="0" bIns="0" rtlCol="0" anchor="t"/>
          <a:lstStyle/>
          <a:p>
            <a:pPr marL="0" indent="0">
              <a:buNone/>
            </a:pPr>
            <a:r>
              <a:rPr lang="en-US" sz="1200" dirty="0">
                <a:solidFill>
                  <a:srgbClr val="5B6560"/>
                </a:solidFill>
                <a:latin typeface="Calibri" pitchFamily="34" charset="0"/>
                <a:ea typeface="Calibri" pitchFamily="34" charset="-122"/>
                <a:cs typeface="Calibri" pitchFamily="34" charset="-120"/>
              </a:rPr>
              <a:t>AWS Management Console screenshots · account ID masked</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16191F"/>
                </a:solidFill>
              </a:rPr>
              <a:t>TESTING, EVALUATION AND COST</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047857"/>
                </a:solidFill>
                <a:latin typeface="Calibri" pitchFamily="34" charset="0"/>
                <a:ea typeface="Calibri" pitchFamily="34" charset="-122"/>
                <a:cs typeface="Calibri" pitchFamily="34" charset="-120"/>
              </a:rPr>
              <a:t>FINAL RUNS · 16 OCTOBER 2026</a:t>
            </a:r>
            <a:endParaRPr lang="en-US" sz="1200" dirty="0"/>
          </a:p>
        </p:txBody>
      </p:sp>
      <p:sp>
        <p:nvSpPr>
          <p:cNvPr id="4" name="live API, Cognito, S3, OCR checks value"/>
          <p:cNvSpPr txBox="1"/>
          <p:nvPr/>
        </p:nvSpPr>
        <p:spPr>
          <a:xfrm>
            <a:off x="868680" y="1737360"/>
            <a:ext cx="2560320" cy="731520"/>
          </a:xfrm>
          <a:prstGeom prst="rect">
            <a:avLst/>
          </a:prstGeom>
          <a:noFill/>
          <a:ln/>
        </p:spPr>
        <p:txBody>
          <a:bodyPr wrap="square" lIns="0" tIns="0" rIns="0" bIns="0" rtlCol="0" anchor="t"/>
          <a:lstStyle/>
          <a:p>
            <a:pPr marL="0" indent="0">
              <a:buNone/>
            </a:pPr>
            <a:r>
              <a:rPr lang="en-US" sz="4400" b="1" dirty="0">
                <a:solidFill>
                  <a:srgbClr val="047857"/>
                </a:solidFill>
                <a:latin typeface="Calibri" pitchFamily="34" charset="0"/>
                <a:ea typeface="Calibri" pitchFamily="34" charset="-122"/>
                <a:cs typeface="Calibri" pitchFamily="34" charset="-120"/>
              </a:rPr>
              <a:t>64/64</a:t>
            </a:r>
            <a:endParaRPr lang="en-US" sz="4400" dirty="0"/>
          </a:p>
        </p:txBody>
      </p:sp>
      <p:sp>
        <p:nvSpPr>
          <p:cNvPr id="5" name="live API, Cognito, S3, OCR checks label"/>
          <p:cNvSpPr txBox="1"/>
          <p:nvPr/>
        </p:nvSpPr>
        <p:spPr>
          <a:xfrm>
            <a:off x="868680" y="2487168"/>
            <a:ext cx="2560320" cy="3657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live API, Cognito, S3, OCR checks</a:t>
            </a:r>
            <a:endParaRPr lang="en-US" sz="1500" dirty="0"/>
          </a:p>
        </p:txBody>
      </p:sp>
      <p:sp>
        <p:nvSpPr>
          <p:cNvPr id="6" name="live browser checks · 0 errors value"/>
          <p:cNvSpPr txBox="1"/>
          <p:nvPr/>
        </p:nvSpPr>
        <p:spPr>
          <a:xfrm>
            <a:off x="3611880" y="1737360"/>
            <a:ext cx="2560320" cy="731520"/>
          </a:xfrm>
          <a:prstGeom prst="rect">
            <a:avLst/>
          </a:prstGeom>
          <a:noFill/>
          <a:ln/>
        </p:spPr>
        <p:txBody>
          <a:bodyPr wrap="square" lIns="0" tIns="0" rIns="0" bIns="0" rtlCol="0" anchor="t"/>
          <a:lstStyle/>
          <a:p>
            <a:pPr marL="0" indent="0">
              <a:buNone/>
            </a:pPr>
            <a:r>
              <a:rPr lang="en-US" sz="4400" b="1" dirty="0">
                <a:solidFill>
                  <a:srgbClr val="047857"/>
                </a:solidFill>
                <a:latin typeface="Calibri" pitchFamily="34" charset="0"/>
                <a:ea typeface="Calibri" pitchFamily="34" charset="-122"/>
                <a:cs typeface="Calibri" pitchFamily="34" charset="-120"/>
              </a:rPr>
              <a:t>27/27</a:t>
            </a:r>
            <a:endParaRPr lang="en-US" sz="4400" dirty="0"/>
          </a:p>
        </p:txBody>
      </p:sp>
      <p:sp>
        <p:nvSpPr>
          <p:cNvPr id="7" name="live browser checks · 0 errors label"/>
          <p:cNvSpPr txBox="1"/>
          <p:nvPr/>
        </p:nvSpPr>
        <p:spPr>
          <a:xfrm>
            <a:off x="3611880" y="2487168"/>
            <a:ext cx="2560320" cy="3657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live browser checks · 0 errors</a:t>
            </a:r>
            <a:endParaRPr lang="en-US" sz="1500" dirty="0"/>
          </a:p>
        </p:txBody>
      </p:sp>
      <p:sp>
        <p:nvSpPr>
          <p:cNvPr id="8" name="backend tests passed value"/>
          <p:cNvSpPr txBox="1"/>
          <p:nvPr/>
        </p:nvSpPr>
        <p:spPr>
          <a:xfrm>
            <a:off x="6355080" y="1737360"/>
            <a:ext cx="2560320" cy="731520"/>
          </a:xfrm>
          <a:prstGeom prst="rect">
            <a:avLst/>
          </a:prstGeom>
          <a:noFill/>
          <a:ln/>
        </p:spPr>
        <p:txBody>
          <a:bodyPr wrap="square" lIns="0" tIns="0" rIns="0" bIns="0" rtlCol="0" anchor="t"/>
          <a:lstStyle/>
          <a:p>
            <a:pPr marL="0" indent="0">
              <a:buNone/>
            </a:pPr>
            <a:r>
              <a:rPr lang="en-US" sz="4400" b="1" dirty="0">
                <a:solidFill>
                  <a:srgbClr val="047857"/>
                </a:solidFill>
                <a:latin typeface="Calibri" pitchFamily="34" charset="0"/>
                <a:ea typeface="Calibri" pitchFamily="34" charset="-122"/>
                <a:cs typeface="Calibri" pitchFamily="34" charset="-120"/>
              </a:rPr>
              <a:t>131</a:t>
            </a:r>
            <a:endParaRPr lang="en-US" sz="4400" dirty="0"/>
          </a:p>
        </p:txBody>
      </p:sp>
      <p:sp>
        <p:nvSpPr>
          <p:cNvPr id="9" name="backend tests passed label"/>
          <p:cNvSpPr txBox="1"/>
          <p:nvPr/>
        </p:nvSpPr>
        <p:spPr>
          <a:xfrm>
            <a:off x="6355080" y="2487168"/>
            <a:ext cx="2560320" cy="3657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backend tests passed</a:t>
            </a:r>
            <a:endParaRPr lang="en-US" sz="1500" dirty="0"/>
          </a:p>
        </p:txBody>
      </p:sp>
      <p:sp>
        <p:nvSpPr>
          <p:cNvPr id="10" name="frontend tests passed value"/>
          <p:cNvSpPr txBox="1"/>
          <p:nvPr/>
        </p:nvSpPr>
        <p:spPr>
          <a:xfrm>
            <a:off x="9098280" y="1737360"/>
            <a:ext cx="2560320" cy="731520"/>
          </a:xfrm>
          <a:prstGeom prst="rect">
            <a:avLst/>
          </a:prstGeom>
          <a:noFill/>
          <a:ln/>
        </p:spPr>
        <p:txBody>
          <a:bodyPr wrap="square" lIns="0" tIns="0" rIns="0" bIns="0" rtlCol="0" anchor="t"/>
          <a:lstStyle/>
          <a:p>
            <a:pPr marL="0" indent="0">
              <a:buNone/>
            </a:pPr>
            <a:r>
              <a:rPr lang="en-US" sz="4400" b="1" dirty="0">
                <a:solidFill>
                  <a:srgbClr val="047857"/>
                </a:solidFill>
                <a:latin typeface="Calibri" pitchFamily="34" charset="0"/>
                <a:ea typeface="Calibri" pitchFamily="34" charset="-122"/>
                <a:cs typeface="Calibri" pitchFamily="34" charset="-120"/>
              </a:rPr>
              <a:t>20</a:t>
            </a:r>
            <a:endParaRPr lang="en-US" sz="4400" dirty="0"/>
          </a:p>
        </p:txBody>
      </p:sp>
      <p:sp>
        <p:nvSpPr>
          <p:cNvPr id="11" name="frontend tests passed label"/>
          <p:cNvSpPr txBox="1"/>
          <p:nvPr/>
        </p:nvSpPr>
        <p:spPr>
          <a:xfrm>
            <a:off x="9098280" y="2487168"/>
            <a:ext cx="2560320" cy="365760"/>
          </a:xfrm>
          <a:prstGeom prst="rect">
            <a:avLst/>
          </a:prstGeom>
          <a:noFill/>
          <a:ln/>
        </p:spPr>
        <p:txBody>
          <a:bodyPr wrap="square" lIns="0" tIns="0" rIns="0" bIns="0" rtlCol="0" anchor="t"/>
          <a:lstStyle/>
          <a:p>
            <a:pPr marL="0" indent="0">
              <a:buNone/>
            </a:pPr>
            <a:r>
              <a:rPr lang="en-US" sz="1500" dirty="0">
                <a:solidFill>
                  <a:srgbClr val="5B6560"/>
                </a:solidFill>
                <a:latin typeface="Calibri" pitchFamily="34" charset="0"/>
                <a:ea typeface="Calibri" pitchFamily="34" charset="-122"/>
                <a:cs typeface="Calibri" pitchFamily="34" charset="-120"/>
              </a:rPr>
              <a:t>frontend tests passed</a:t>
            </a:r>
            <a:endParaRPr lang="en-US" sz="1500" dirty="0"/>
          </a:p>
        </p:txBody>
      </p:sp>
      <p:graphicFrame>
        <p:nvGraphicFramePr>
          <p:cNvPr id="12" name="Live checks chart"/>
          <p:cNvGraphicFramePr/>
          <p:nvPr/>
        </p:nvGraphicFramePr>
        <p:xfrm>
          <a:off x="777240" y="3063240"/>
          <a:ext cx="60350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3" name="Cost card"/>
          <p:cNvSpPr/>
          <p:nvPr/>
        </p:nvSpPr>
        <p:spPr>
          <a:xfrm>
            <a:off x="7132320" y="3154680"/>
            <a:ext cx="4663440" cy="3246120"/>
          </a:xfrm>
          <a:prstGeom prst="rect">
            <a:avLst/>
          </a:prstGeom>
          <a:solidFill>
            <a:srgbClr val="16191F"/>
          </a:solidFill>
          <a:ln/>
        </p:spPr>
      </p:sp>
      <p:sp>
        <p:nvSpPr>
          <p:cNvPr id="14" name="Cost label"/>
          <p:cNvSpPr txBox="1"/>
          <p:nvPr/>
        </p:nvSpPr>
        <p:spPr>
          <a:xfrm>
            <a:off x="7406640" y="3337560"/>
            <a:ext cx="4206240" cy="274320"/>
          </a:xfrm>
          <a:prstGeom prst="rect">
            <a:avLst/>
          </a:prstGeom>
          <a:noFill/>
          <a:ln/>
        </p:spPr>
        <p:txBody>
          <a:bodyPr wrap="square" lIns="0" tIns="0" rIns="0" bIns="0" rtlCol="0" anchor="t"/>
          <a:lstStyle/>
          <a:p>
            <a:pPr marL="0" indent="0">
              <a:buNone/>
            </a:pPr>
            <a:r>
              <a:rPr lang="en-US" sz="1200" b="1" kern="0" spc="300" dirty="0">
                <a:solidFill>
                  <a:srgbClr val="34D399"/>
                </a:solidFill>
                <a:latin typeface="Calibri" pitchFamily="34" charset="0"/>
                <a:ea typeface="Calibri" pitchFamily="34" charset="-122"/>
                <a:cs typeface="Calibri" pitchFamily="34" charset="-120"/>
              </a:rPr>
              <a:t>ESTIMATED COST</a:t>
            </a:r>
            <a:endParaRPr lang="en-US" sz="1200" dirty="0"/>
          </a:p>
        </p:txBody>
      </p:sp>
      <p:sp>
        <p:nvSpPr>
          <p:cNvPr id="15" name="Cost value"/>
          <p:cNvSpPr txBox="1"/>
          <p:nvPr/>
        </p:nvSpPr>
        <p:spPr>
          <a:xfrm>
            <a:off x="7406640" y="3639312"/>
            <a:ext cx="4297680" cy="5486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 US$0.05–0.10 / month</a:t>
            </a:r>
            <a:endParaRPr lang="en-US" sz="2600" dirty="0"/>
          </a:p>
        </p:txBody>
      </p:sp>
      <p:sp>
        <p:nvSpPr>
          <p:cNvPr id="16" name="Cost bullets"/>
          <p:cNvSpPr txBox="1"/>
          <p:nvPr/>
        </p:nvSpPr>
        <p:spPr>
          <a:xfrm>
            <a:off x="7406640" y="4343400"/>
            <a:ext cx="4206240" cy="196596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Free plan, US$159.91 credits; US$0.09 used</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Largest idle cost: ECR images (~0.38 GB)</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No EC2, RDS, NAT or load balancer</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An estimate for demo use, not a guarantee</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7E"/>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868680" y="457200"/>
            <a:ext cx="8778240" cy="685800"/>
          </a:xfrm>
          <a:prstGeom prst="rect">
            <a:avLst/>
          </a:prstGeom>
          <a:noFill/>
          <a:ln/>
        </p:spPr>
        <p:txBody>
          <a:bodyPr wrap="square" lIns="0" tIns="0" rIns="0" bIns="0" rtlCol="0" anchor="t"/>
          <a:lstStyle/>
          <a:p>
            <a:pPr marL="0" indent="0" algn="l">
              <a:buNone/>
            </a:pPr>
            <a:r>
              <a:rPr lang="en-US" sz="3000" kern="0" spc="100" dirty="0">
                <a:solidFill>
                  <a:srgbClr val="FFFFFF"/>
                </a:solidFill>
              </a:rPr>
              <a:t>CONCLUSION AND FUTURE WORK</a:t>
            </a:r>
            <a:endParaRPr lang="en-US" sz="3000" dirty="0"/>
          </a:p>
        </p:txBody>
      </p:sp>
      <p:sp>
        <p:nvSpPr>
          <p:cNvPr id="3" name="Text 3"/>
          <p:cNvSpPr>
            <a:spLocks noGrp="1"/>
          </p:cNvSpPr>
          <p:nvPr>
            <p:ph type="body" idx="105" hasCustomPrompt="1"/>
          </p:nvPr>
        </p:nvSpPr>
        <p:spPr>
          <a:xfrm>
            <a:off x="886968" y="1161288"/>
            <a:ext cx="8778240" cy="320040"/>
          </a:xfrm>
          <a:prstGeom prst="rect">
            <a:avLst/>
          </a:prstGeom>
          <a:noFill/>
          <a:ln/>
        </p:spPr>
        <p:txBody>
          <a:bodyPr wrap="square" lIns="0" tIns="0" rIns="0" bIns="0" rtlCol="0" anchor="t"/>
          <a:lstStyle/>
          <a:p>
            <a:pPr marL="0" indent="0" algn="l">
              <a:buNone/>
            </a:pPr>
            <a:r>
              <a:rPr lang="en-US" sz="1200" b="1" kern="0" spc="400" dirty="0">
                <a:solidFill>
                  <a:srgbClr val="34D399"/>
                </a:solidFill>
                <a:latin typeface="Calibri" pitchFamily="34" charset="0"/>
                <a:ea typeface="Calibri" pitchFamily="34" charset="-122"/>
                <a:cs typeface="Calibri" pitchFamily="34" charset="-120"/>
              </a:rPr>
              <a:t>WHAT WAS DELIVERED · WHAT REMAINS</a:t>
            </a:r>
            <a:endParaRPr lang="en-US" sz="1200" dirty="0"/>
          </a:p>
        </p:txBody>
      </p:sp>
      <p:sp>
        <p:nvSpPr>
          <p:cNvPr id="4" name="Contributions panel"/>
          <p:cNvSpPr/>
          <p:nvPr/>
        </p:nvSpPr>
        <p:spPr>
          <a:xfrm>
            <a:off x="868680" y="1783080"/>
            <a:ext cx="3429000" cy="3611880"/>
          </a:xfrm>
          <a:prstGeom prst="rect">
            <a:avLst/>
          </a:prstGeom>
          <a:solidFill>
            <a:srgbClr val="1B1E24"/>
          </a:solidFill>
          <a:ln/>
        </p:spPr>
      </p:sp>
      <p:sp>
        <p:nvSpPr>
          <p:cNvPr id="5" name="Contributions marker"/>
          <p:cNvSpPr/>
          <p:nvPr/>
        </p:nvSpPr>
        <p:spPr>
          <a:xfrm>
            <a:off x="1124712" y="1993392"/>
            <a:ext cx="384048" cy="384048"/>
          </a:xfrm>
          <a:prstGeom prst="rect">
            <a:avLst/>
          </a:prstGeom>
          <a:solidFill>
            <a:srgbClr val="10B981"/>
          </a:solidFill>
          <a:ln/>
        </p:spPr>
      </p:sp>
      <p:sp>
        <p:nvSpPr>
          <p:cNvPr id="6" name="Contributions marker text"/>
          <p:cNvSpPr txBox="1"/>
          <p:nvPr/>
        </p:nvSpPr>
        <p:spPr>
          <a:xfrm>
            <a:off x="1124712" y="1993392"/>
            <a:ext cx="384048" cy="384048"/>
          </a:xfrm>
          <a:prstGeom prst="rect">
            <a:avLst/>
          </a:prstGeom>
          <a:noFill/>
          <a:ln/>
        </p:spPr>
        <p:txBody>
          <a:bodyPr wrap="square" lIns="0" tIns="0" rIns="0" bIns="0" rtlCol="0" anchor="ctr"/>
          <a:lstStyle/>
          <a:p>
            <a:pPr marL="0" indent="0" algn="ctr">
              <a:buNone/>
            </a:pPr>
            <a:r>
              <a:rPr lang="en-US" sz="1500" b="1" dirty="0">
                <a:solidFill>
                  <a:srgbClr val="101114"/>
                </a:solidFill>
                <a:latin typeface="Calibri" pitchFamily="34" charset="0"/>
                <a:ea typeface="Calibri" pitchFamily="34" charset="-122"/>
                <a:cs typeface="Calibri" pitchFamily="34" charset="-120"/>
              </a:rPr>
              <a:t>+</a:t>
            </a:r>
            <a:endParaRPr lang="en-US" sz="1500" dirty="0"/>
          </a:p>
        </p:txBody>
      </p:sp>
      <p:sp>
        <p:nvSpPr>
          <p:cNvPr id="7" name="Contributions heading"/>
          <p:cNvSpPr txBox="1"/>
          <p:nvPr/>
        </p:nvSpPr>
        <p:spPr>
          <a:xfrm>
            <a:off x="1645920" y="1993392"/>
            <a:ext cx="2560320" cy="384048"/>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CONTRIBUTIONS</a:t>
            </a:r>
            <a:endParaRPr lang="en-US" sz="1500" dirty="0"/>
          </a:p>
        </p:txBody>
      </p:sp>
      <p:sp>
        <p:nvSpPr>
          <p:cNvPr id="8" name="Contributions bullets"/>
          <p:cNvSpPr txBox="1"/>
          <p:nvPr/>
        </p:nvSpPr>
        <p:spPr>
          <a:xfrm>
            <a:off x="1124712" y="2606040"/>
            <a:ext cx="3017520" cy="3017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Full finance platform: expenses, budgets, analytics, insights, anomalies, OCR, What-If, goals, assistant</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Explainable by design: every insight shows its evidence</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Serverless on AWS with two-layer auth, revocation and per-user isolation</a:t>
            </a:r>
            <a:endParaRPr lang="en-US" sz="1500" dirty="0"/>
          </a:p>
        </p:txBody>
      </p:sp>
      <p:sp>
        <p:nvSpPr>
          <p:cNvPr id="9" name="Limitations panel"/>
          <p:cNvSpPr/>
          <p:nvPr/>
        </p:nvSpPr>
        <p:spPr>
          <a:xfrm>
            <a:off x="4526280" y="1783080"/>
            <a:ext cx="3429000" cy="3611880"/>
          </a:xfrm>
          <a:prstGeom prst="rect">
            <a:avLst/>
          </a:prstGeom>
          <a:solidFill>
            <a:srgbClr val="1B1E24"/>
          </a:solidFill>
          <a:ln/>
        </p:spPr>
      </p:sp>
      <p:sp>
        <p:nvSpPr>
          <p:cNvPr id="10" name="Limitations marker"/>
          <p:cNvSpPr/>
          <p:nvPr/>
        </p:nvSpPr>
        <p:spPr>
          <a:xfrm>
            <a:off x="4782312" y="1993392"/>
            <a:ext cx="384048" cy="384048"/>
          </a:xfrm>
          <a:prstGeom prst="rect">
            <a:avLst/>
          </a:prstGeom>
          <a:solidFill>
            <a:srgbClr val="10B981"/>
          </a:solidFill>
          <a:ln/>
        </p:spPr>
      </p:sp>
      <p:sp>
        <p:nvSpPr>
          <p:cNvPr id="11" name="Limitations marker text"/>
          <p:cNvSpPr txBox="1"/>
          <p:nvPr/>
        </p:nvSpPr>
        <p:spPr>
          <a:xfrm>
            <a:off x="4782312" y="1993392"/>
            <a:ext cx="384048" cy="384048"/>
          </a:xfrm>
          <a:prstGeom prst="rect">
            <a:avLst/>
          </a:prstGeom>
          <a:noFill/>
          <a:ln/>
        </p:spPr>
        <p:txBody>
          <a:bodyPr wrap="square" lIns="0" tIns="0" rIns="0" bIns="0" rtlCol="0" anchor="ctr"/>
          <a:lstStyle/>
          <a:p>
            <a:pPr marL="0" indent="0" algn="ctr">
              <a:buNone/>
            </a:pPr>
            <a:r>
              <a:rPr lang="en-US" sz="1500" b="1" dirty="0">
                <a:solidFill>
                  <a:srgbClr val="101114"/>
                </a:solidFill>
                <a:latin typeface="Calibri" pitchFamily="34" charset="0"/>
                <a:ea typeface="Calibri" pitchFamily="34" charset="-122"/>
                <a:cs typeface="Calibri" pitchFamily="34" charset="-120"/>
              </a:rPr>
              <a:t>+</a:t>
            </a:r>
            <a:endParaRPr lang="en-US" sz="1500" dirty="0"/>
          </a:p>
        </p:txBody>
      </p:sp>
      <p:sp>
        <p:nvSpPr>
          <p:cNvPr id="12" name="Limitations heading"/>
          <p:cNvSpPr txBox="1"/>
          <p:nvPr/>
        </p:nvSpPr>
        <p:spPr>
          <a:xfrm>
            <a:off x="5303520" y="1993392"/>
            <a:ext cx="2560320" cy="384048"/>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3" name="Limitations bullets"/>
          <p:cNvSpPr txBox="1"/>
          <p:nvPr/>
        </p:nvSpPr>
        <p:spPr>
          <a:xfrm>
            <a:off x="4782312" y="2606040"/>
            <a:ext cx="3017520" cy="3017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CloudFront blocked until AWS verifies the account</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Revocation within 15 s; fail-open if Cognito is down</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Cold starts ~3 s; no load test or OCR accuracy study</a:t>
            </a:r>
            <a:endParaRPr lang="en-US" sz="1500" dirty="0"/>
          </a:p>
        </p:txBody>
      </p:sp>
      <p:sp>
        <p:nvSpPr>
          <p:cNvPr id="14" name="Future work panel"/>
          <p:cNvSpPr/>
          <p:nvPr/>
        </p:nvSpPr>
        <p:spPr>
          <a:xfrm>
            <a:off x="8183880" y="1783080"/>
            <a:ext cx="3429000" cy="3611880"/>
          </a:xfrm>
          <a:prstGeom prst="rect">
            <a:avLst/>
          </a:prstGeom>
          <a:solidFill>
            <a:srgbClr val="1B1E24"/>
          </a:solidFill>
          <a:ln/>
        </p:spPr>
      </p:sp>
      <p:sp>
        <p:nvSpPr>
          <p:cNvPr id="15" name="Future work marker"/>
          <p:cNvSpPr/>
          <p:nvPr/>
        </p:nvSpPr>
        <p:spPr>
          <a:xfrm>
            <a:off x="8439912" y="1993392"/>
            <a:ext cx="384048" cy="384048"/>
          </a:xfrm>
          <a:prstGeom prst="rect">
            <a:avLst/>
          </a:prstGeom>
          <a:solidFill>
            <a:srgbClr val="10B981"/>
          </a:solidFill>
          <a:ln/>
        </p:spPr>
      </p:sp>
      <p:sp>
        <p:nvSpPr>
          <p:cNvPr id="16" name="Future work marker text"/>
          <p:cNvSpPr txBox="1"/>
          <p:nvPr/>
        </p:nvSpPr>
        <p:spPr>
          <a:xfrm>
            <a:off x="8439912" y="1993392"/>
            <a:ext cx="384048" cy="384048"/>
          </a:xfrm>
          <a:prstGeom prst="rect">
            <a:avLst/>
          </a:prstGeom>
          <a:noFill/>
          <a:ln/>
        </p:spPr>
        <p:txBody>
          <a:bodyPr wrap="square" lIns="0" tIns="0" rIns="0" bIns="0" rtlCol="0" anchor="ctr"/>
          <a:lstStyle/>
          <a:p>
            <a:pPr marL="0" indent="0" algn="ctr">
              <a:buNone/>
            </a:pPr>
            <a:r>
              <a:rPr lang="en-US" sz="1500" b="1" dirty="0">
                <a:solidFill>
                  <a:srgbClr val="101114"/>
                </a:solidFill>
                <a:latin typeface="Calibri" pitchFamily="34" charset="0"/>
                <a:ea typeface="Calibri" pitchFamily="34" charset="-122"/>
                <a:cs typeface="Calibri" pitchFamily="34" charset="-120"/>
              </a:rPr>
              <a:t>+</a:t>
            </a:r>
            <a:endParaRPr lang="en-US" sz="1500" dirty="0"/>
          </a:p>
        </p:txBody>
      </p:sp>
      <p:sp>
        <p:nvSpPr>
          <p:cNvPr id="17" name="Future work heading"/>
          <p:cNvSpPr txBox="1"/>
          <p:nvPr/>
        </p:nvSpPr>
        <p:spPr>
          <a:xfrm>
            <a:off x="8961120" y="1993392"/>
            <a:ext cx="2560320" cy="384048"/>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FUTURE WORK</a:t>
            </a:r>
            <a:endParaRPr lang="en-US" sz="1500" dirty="0"/>
          </a:p>
        </p:txBody>
      </p:sp>
      <p:sp>
        <p:nvSpPr>
          <p:cNvPr id="18" name="Future work bullets"/>
          <p:cNvSpPr txBox="1"/>
          <p:nvPr/>
        </p:nvSpPr>
        <p:spPr>
          <a:xfrm>
            <a:off x="8439912" y="2606040"/>
            <a:ext cx="3017520" cy="30175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CloudFront + WAF, then a Content-Security-Policy</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IAM Identity Center for deployments; SNS alarms; DynamoDB PITR</a:t>
            </a:r>
            <a:endParaRPr lang="en-US" sz="1500" dirty="0"/>
          </a:p>
          <a:p>
            <a:pPr marL="203200" indent="-203200">
              <a:spcAft>
                <a:spcPts val="700"/>
              </a:spcAft>
              <a:buSzPct val="100000"/>
              <a:buChar char="•"/>
            </a:pPr>
            <a:r>
              <a:rPr lang="en-US" sz="1500" dirty="0">
                <a:solidFill>
                  <a:srgbClr val="E5E7EB"/>
                </a:solidFill>
                <a:latin typeface="Calibri" pitchFamily="34" charset="0"/>
                <a:ea typeface="Calibri" pitchFamily="34" charset="-122"/>
                <a:cs typeface="Calibri" pitchFamily="34" charset="-120"/>
              </a:rPr>
              <a:t>Statement import and better OCR preprocessing</a:t>
            </a:r>
            <a:endParaRPr lang="en-US" sz="1500" dirty="0"/>
          </a:p>
        </p:txBody>
      </p:sp>
      <p:sp>
        <p:nvSpPr>
          <p:cNvPr id="19" name="Live URL"/>
          <p:cNvSpPr txBox="1"/>
          <p:nvPr/>
        </p:nvSpPr>
        <p:spPr>
          <a:xfrm>
            <a:off x="868680" y="5989320"/>
            <a:ext cx="8686800" cy="411480"/>
          </a:xfrm>
          <a:prstGeom prst="rect">
            <a:avLst/>
          </a:prstGeom>
          <a:noFill/>
          <a:ln/>
        </p:spPr>
        <p:txBody>
          <a:bodyPr wrap="square" lIns="0" tIns="0" rIns="0" bIns="0" rtlCol="0" anchor="ctr"/>
          <a:lstStyle/>
          <a:p>
            <a:pPr marL="0" indent="0">
              <a:buNone/>
            </a:pPr>
            <a:r>
              <a:rPr lang="en-US" sz="1200" b="1" kern="0" spc="300" dirty="0">
                <a:solidFill>
                  <a:srgbClr val="34D399"/>
                </a:solidFill>
                <a:latin typeface="Calibri" pitchFamily="34" charset="0"/>
                <a:ea typeface="Calibri" pitchFamily="34" charset="-122"/>
                <a:cs typeface="Calibri" pitchFamily="34" charset="-120"/>
              </a:rPr>
              <a:t>LIVE  </a:t>
            </a:r>
            <a:r>
              <a:rPr lang="en-US" sz="1600" dirty="0">
                <a:solidFill>
                  <a:srgbClr val="FFFFFF"/>
                </a:solidFill>
                <a:latin typeface="Calibri" pitchFamily="34" charset="0"/>
                <a:ea typeface="Calibri" pitchFamily="34" charset="-122"/>
                <a:cs typeface="Calibri" pitchFamily="34" charset="-120"/>
              </a:rPr>
              <a:t>https://zkht2b4ib3.execute-api.ap-south-1.amazonaws.com</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B9097"/>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FinSight Emerald">
  <a:themeElements>
    <a:clrScheme name="FinSight Emerald">
      <a:dk1>
        <a:srgbClr val="16191F"/>
      </a:dk1>
      <a:lt1>
        <a:srgbClr val="FFFFFF"/>
      </a:lt1>
      <a:dk2>
        <a:srgbClr val="101114"/>
      </a:dk2>
      <a:lt2>
        <a:srgbClr val="F3F5F4"/>
      </a:lt2>
      <a:accent1>
        <a:srgbClr val="10B981"/>
      </a:accent1>
      <a:accent2>
        <a:srgbClr val="047857"/>
      </a:accent2>
      <a:accent3>
        <a:srgbClr val="F2B24C"/>
      </a:accent3>
      <a:accent4>
        <a:srgbClr val="5D8BE0"/>
      </a:accent4>
      <a:accent5>
        <a:srgbClr val="D9588F"/>
      </a:accent5>
      <a:accent6>
        <a:srgbClr val="6B7280"/>
      </a:accent6>
      <a:hlink>
        <a:srgbClr val="047857"/>
      </a:hlink>
      <a:folHlink>
        <a:srgbClr val="065F46"/>
      </a:folHlink>
    </a:clrScheme>
    <a:fontScheme name="FinSight Emerald">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1578</Words>
  <Application>Microsoft Office PowerPoint</Application>
  <PresentationFormat>Widescreen</PresentationFormat>
  <Paragraphs>221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Black</vt:lpstr>
      <vt:lpstr>Calibri</vt:lpstr>
      <vt:lpstr>FinSight Emerald</vt:lpstr>
      <vt:lpstr>PowerPoint Presentation</vt:lpstr>
      <vt:lpstr>PROBLEM AND MOTIVATION</vt:lpstr>
      <vt:lpstr>OBJECTIVES AND KEY FEATURES</vt:lpstr>
      <vt:lpstr>APPLICATION OVERVIEW</vt:lpstr>
      <vt:lpstr>ACTUAL SYSTEM ARCHITECTURE</vt:lpstr>
      <vt:lpstr>CORE MODULES AND WORKFLOW</vt:lpstr>
      <vt:lpstr>ANALYTICS AND INTELLIGENCE</vt:lpstr>
      <vt:lpstr>RECEIPT OCR WORKFLOW</vt:lpstr>
      <vt:lpstr>AWS DEPLOYMENT AND SECURITY</vt:lpstr>
      <vt:lpstr>TESTING, EVALUATION AND COST</vt:lpstr>
      <vt:lpstr>CONCLUSION AND FUTURE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FinSight — Cloud-Based Personal Finance Intelligence &amp; Expense Analytics Platform</dc:title>
  <dc:subject>Final project presentation</dc:subject>
  <dc:creator>Aakar Gupta</dc:creator>
  <cp:lastModifiedBy>Aakar Gupta</cp:lastModifiedBy>
  <cp:revision>1</cp:revision>
  <dcterms:created xsi:type="dcterms:W3CDTF">2026-10-16T14:44:05Z</dcterms:created>
  <dcterms:modified xsi:type="dcterms:W3CDTF">2026-10-16T15:30:15Z</dcterms:modified>
</cp:coreProperties>
</file>